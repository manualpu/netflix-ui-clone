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tVZnyQlvMkTNyHLZRnMDcsOOp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C05C04-2CEC-46CA-9F16-A892D877406B}">
  <a:tblStyle styleId="{01C05C04-2CEC-46CA-9F16-A892D877406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8" name="Google Shape;88;p2: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7" name="Google Shape;97;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4" name="Google Shape;104;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1" name="Google Shape;111;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8" name="Google Shape;118;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26" name="Google Shape;126;p7: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33" name="Google Shape;133;p36:notes"/>
          <p:cNvSpPr/>
          <p:nvPr>
            <p:ph idx="2" type="sldImg"/>
          </p:nvPr>
        </p:nvSpPr>
        <p:spPr>
          <a:xfrm>
            <a:off x="217488" y="812800"/>
            <a:ext cx="71247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40" name="Google Shape;14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48" name="Google Shape;148;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55" name="Google Shape;155;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f91eae8e3_3_0:notes"/>
          <p:cNvSpPr txBox="1"/>
          <p:nvPr>
            <p:ph idx="1" type="body"/>
          </p:nvPr>
        </p:nvSpPr>
        <p:spPr>
          <a:xfrm>
            <a:off x="755968" y="5145429"/>
            <a:ext cx="6047700" cy="42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2" name="Google Shape;162;g3bf91eae8e3_3_0:notes"/>
          <p:cNvSpPr/>
          <p:nvPr>
            <p:ph idx="2" type="sldImg"/>
          </p:nvPr>
        </p:nvSpPr>
        <p:spPr>
          <a:xfrm>
            <a:off x="755968" y="1336475"/>
            <a:ext cx="60477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f91eae8e3_3_89:notes"/>
          <p:cNvSpPr txBox="1"/>
          <p:nvPr>
            <p:ph idx="1" type="body"/>
          </p:nvPr>
        </p:nvSpPr>
        <p:spPr>
          <a:xfrm>
            <a:off x="755968" y="5145429"/>
            <a:ext cx="6047700" cy="42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g3bf91eae8e3_3_89:notes"/>
          <p:cNvSpPr/>
          <p:nvPr>
            <p:ph idx="2" type="sldImg"/>
          </p:nvPr>
        </p:nvSpPr>
        <p:spPr>
          <a:xfrm>
            <a:off x="755968" y="1336475"/>
            <a:ext cx="60477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f91eae8e3_3_96:notes"/>
          <p:cNvSpPr txBox="1"/>
          <p:nvPr>
            <p:ph idx="1" type="body"/>
          </p:nvPr>
        </p:nvSpPr>
        <p:spPr>
          <a:xfrm>
            <a:off x="755968" y="5145429"/>
            <a:ext cx="6047700" cy="42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6" name="Google Shape;176;g3bf91eae8e3_3_96:notes"/>
          <p:cNvSpPr/>
          <p:nvPr>
            <p:ph idx="2" type="sldImg"/>
          </p:nvPr>
        </p:nvSpPr>
        <p:spPr>
          <a:xfrm>
            <a:off x="755968" y="1336475"/>
            <a:ext cx="60477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f91eae8e3_3_82:notes"/>
          <p:cNvSpPr txBox="1"/>
          <p:nvPr>
            <p:ph idx="1" type="body"/>
          </p:nvPr>
        </p:nvSpPr>
        <p:spPr>
          <a:xfrm>
            <a:off x="755968" y="5145429"/>
            <a:ext cx="6047700" cy="42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3" name="Google Shape;183;g3bf91eae8e3_3_82:notes"/>
          <p:cNvSpPr/>
          <p:nvPr>
            <p:ph idx="2" type="sldImg"/>
          </p:nvPr>
        </p:nvSpPr>
        <p:spPr>
          <a:xfrm>
            <a:off x="755968" y="1336475"/>
            <a:ext cx="60477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90" name="Google Shape;190;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FFFFF"/>
        </a:solidFill>
      </p:bgPr>
    </p:bg>
    <p:spTree>
      <p:nvGrpSpPr>
        <p:cNvPr id="10" name="Shape 10"/>
        <p:cNvGrpSpPr/>
        <p:nvPr/>
      </p:nvGrpSpPr>
      <p:grpSpPr>
        <a:xfrm>
          <a:off x="0" y="0"/>
          <a:ext cx="0" cy="0"/>
          <a:chOff x="0" y="0"/>
          <a:chExt cx="0" cy="0"/>
        </a:xfrm>
      </p:grpSpPr>
      <p:sp>
        <p:nvSpPr>
          <p:cNvPr id="11" name="Google Shape;11;p22"/>
          <p:cNvSpPr txBox="1"/>
          <p:nvPr>
            <p:ph type="title"/>
          </p:nvPr>
        </p:nvSpPr>
        <p:spPr>
          <a:xfrm>
            <a:off x="1523880" y="1122480"/>
            <a:ext cx="9143640" cy="238716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2"/>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22"/>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22"/>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5" name="Google Shape;15;p22"/>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rgbClr val="FFFFFF"/>
        </a:solidFill>
      </p:bgPr>
    </p:bg>
    <p:spTree>
      <p:nvGrpSpPr>
        <p:cNvPr id="16" name="Shape 16"/>
        <p:cNvGrpSpPr/>
        <p:nvPr/>
      </p:nvGrpSpPr>
      <p:grpSpPr>
        <a:xfrm>
          <a:off x="0" y="0"/>
          <a:ext cx="0" cy="0"/>
          <a:chOff x="0" y="0"/>
          <a:chExt cx="0" cy="0"/>
        </a:xfrm>
      </p:grpSpPr>
      <p:sp>
        <p:nvSpPr>
          <p:cNvPr id="17" name="Google Shape;17;p23"/>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23"/>
          <p:cNvSpPr txBox="1"/>
          <p:nvPr>
            <p:ph idx="1" type="body"/>
          </p:nvPr>
        </p:nvSpPr>
        <p:spPr>
          <a:xfrm>
            <a:off x="838080" y="1825560"/>
            <a:ext cx="10515240" cy="4350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23"/>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23"/>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23"/>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solidFill>
          <a:srgbClr val="FFFFFF"/>
        </a:solidFill>
      </p:bgPr>
    </p:bg>
    <p:spTree>
      <p:nvGrpSpPr>
        <p:cNvPr id="22" name="Shape 22"/>
        <p:cNvGrpSpPr/>
        <p:nvPr/>
      </p:nvGrpSpPr>
      <p:grpSpPr>
        <a:xfrm>
          <a:off x="0" y="0"/>
          <a:ext cx="0" cy="0"/>
          <a:chOff x="0" y="0"/>
          <a:chExt cx="0" cy="0"/>
        </a:xfrm>
      </p:grpSpPr>
      <p:sp>
        <p:nvSpPr>
          <p:cNvPr id="23" name="Google Shape;23;p27"/>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p27"/>
          <p:cNvSpPr txBox="1"/>
          <p:nvPr>
            <p:ph idx="1" type="body"/>
          </p:nvPr>
        </p:nvSpPr>
        <p:spPr>
          <a:xfrm rot="5400000">
            <a:off x="3920220" y="-1256580"/>
            <a:ext cx="4350960" cy="1051524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27"/>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27"/>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27"/>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solidFill>
          <a:srgbClr val="FFFFFF"/>
        </a:solidFill>
      </p:bgPr>
    </p:bg>
    <p:spTree>
      <p:nvGrpSpPr>
        <p:cNvPr id="28" name="Shape 28"/>
        <p:cNvGrpSpPr/>
        <p:nvPr/>
      </p:nvGrpSpPr>
      <p:grpSpPr>
        <a:xfrm>
          <a:off x="0" y="0"/>
          <a:ext cx="0" cy="0"/>
          <a:chOff x="0" y="0"/>
          <a:chExt cx="0" cy="0"/>
        </a:xfrm>
      </p:grpSpPr>
      <p:sp>
        <p:nvSpPr>
          <p:cNvPr id="29" name="Google Shape;29;p28"/>
          <p:cNvSpPr txBox="1"/>
          <p:nvPr>
            <p:ph type="title"/>
          </p:nvPr>
        </p:nvSpPr>
        <p:spPr>
          <a:xfrm rot="5400000">
            <a:off x="7133580" y="1956420"/>
            <a:ext cx="5811480" cy="26287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p28"/>
          <p:cNvSpPr txBox="1"/>
          <p:nvPr>
            <p:ph idx="1" type="body"/>
          </p:nvPr>
        </p:nvSpPr>
        <p:spPr>
          <a:xfrm rot="5400000">
            <a:off x="1799280" y="-596160"/>
            <a:ext cx="5811480" cy="77338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 name="Google Shape;31;p28"/>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p28"/>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28"/>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bg>
      <p:bgPr>
        <a:solidFill>
          <a:srgbClr val="FFFFFF"/>
        </a:solidFill>
      </p:bgPr>
    </p:bg>
    <p:spTree>
      <p:nvGrpSpPr>
        <p:cNvPr id="34" name="Shape 34"/>
        <p:cNvGrpSpPr/>
        <p:nvPr/>
      </p:nvGrpSpPr>
      <p:grpSpPr>
        <a:xfrm>
          <a:off x="0" y="0"/>
          <a:ext cx="0" cy="0"/>
          <a:chOff x="0" y="0"/>
          <a:chExt cx="0" cy="0"/>
        </a:xfrm>
      </p:grpSpPr>
      <p:sp>
        <p:nvSpPr>
          <p:cNvPr id="35" name="Google Shape;35;p29"/>
          <p:cNvSpPr txBox="1"/>
          <p:nvPr>
            <p:ph type="title"/>
          </p:nvPr>
        </p:nvSpPr>
        <p:spPr>
          <a:xfrm>
            <a:off x="831960" y="1709640"/>
            <a:ext cx="10515240" cy="285228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p29"/>
          <p:cNvSpPr txBox="1"/>
          <p:nvPr>
            <p:ph idx="1" type="body"/>
          </p:nvPr>
        </p:nvSpPr>
        <p:spPr>
          <a:xfrm>
            <a:off x="831960" y="4589640"/>
            <a:ext cx="10515240" cy="14997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29"/>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29"/>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29"/>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solidFill>
          <a:srgbClr val="FFFFFF"/>
        </a:solidFill>
      </p:bgPr>
    </p:bg>
    <p:spTree>
      <p:nvGrpSpPr>
        <p:cNvPr id="40" name="Shape 40"/>
        <p:cNvGrpSpPr/>
        <p:nvPr/>
      </p:nvGrpSpPr>
      <p:grpSpPr>
        <a:xfrm>
          <a:off x="0" y="0"/>
          <a:ext cx="0" cy="0"/>
          <a:chOff x="0" y="0"/>
          <a:chExt cx="0" cy="0"/>
        </a:xfrm>
      </p:grpSpPr>
      <p:sp>
        <p:nvSpPr>
          <p:cNvPr id="41" name="Google Shape;41;p30"/>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30"/>
          <p:cNvSpPr txBox="1"/>
          <p:nvPr>
            <p:ph idx="1" type="body"/>
          </p:nvPr>
        </p:nvSpPr>
        <p:spPr>
          <a:xfrm>
            <a:off x="838080" y="1825560"/>
            <a:ext cx="5181120" cy="4350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3" name="Google Shape;43;p30"/>
          <p:cNvSpPr txBox="1"/>
          <p:nvPr>
            <p:ph idx="2" type="body"/>
          </p:nvPr>
        </p:nvSpPr>
        <p:spPr>
          <a:xfrm>
            <a:off x="6172200" y="1825560"/>
            <a:ext cx="5181120" cy="4350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30"/>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30"/>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 name="Google Shape;46;p30"/>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solidFill>
          <a:srgbClr val="FFFFFF"/>
        </a:solidFill>
      </p:bgPr>
    </p:bg>
    <p:spTree>
      <p:nvGrpSpPr>
        <p:cNvPr id="47" name="Shape 47"/>
        <p:cNvGrpSpPr/>
        <p:nvPr/>
      </p:nvGrpSpPr>
      <p:grpSpPr>
        <a:xfrm>
          <a:off x="0" y="0"/>
          <a:ext cx="0" cy="0"/>
          <a:chOff x="0" y="0"/>
          <a:chExt cx="0" cy="0"/>
        </a:xfrm>
      </p:grpSpPr>
      <p:sp>
        <p:nvSpPr>
          <p:cNvPr id="48" name="Google Shape;48;p31"/>
          <p:cNvSpPr txBox="1"/>
          <p:nvPr>
            <p:ph type="title"/>
          </p:nvPr>
        </p:nvSpPr>
        <p:spPr>
          <a:xfrm>
            <a:off x="8398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31"/>
          <p:cNvSpPr txBox="1"/>
          <p:nvPr>
            <p:ph idx="1" type="body"/>
          </p:nvPr>
        </p:nvSpPr>
        <p:spPr>
          <a:xfrm>
            <a:off x="839880" y="1681200"/>
            <a:ext cx="5157360" cy="82368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31"/>
          <p:cNvSpPr txBox="1"/>
          <p:nvPr>
            <p:ph idx="2" type="body"/>
          </p:nvPr>
        </p:nvSpPr>
        <p:spPr>
          <a:xfrm>
            <a:off x="839880" y="2505240"/>
            <a:ext cx="5157360" cy="368424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 name="Google Shape;51;p31"/>
          <p:cNvSpPr txBox="1"/>
          <p:nvPr>
            <p:ph idx="3" type="body"/>
          </p:nvPr>
        </p:nvSpPr>
        <p:spPr>
          <a:xfrm>
            <a:off x="6172200" y="1681200"/>
            <a:ext cx="5182920" cy="82368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31"/>
          <p:cNvSpPr txBox="1"/>
          <p:nvPr>
            <p:ph idx="4" type="body"/>
          </p:nvPr>
        </p:nvSpPr>
        <p:spPr>
          <a:xfrm>
            <a:off x="6172200" y="2505240"/>
            <a:ext cx="5182920" cy="368424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3" name="Google Shape;53;p31"/>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p31"/>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31"/>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FFFFFF"/>
        </a:solidFill>
      </p:bgPr>
    </p:bg>
    <p:spTree>
      <p:nvGrpSpPr>
        <p:cNvPr id="56" name="Shape 56"/>
        <p:cNvGrpSpPr/>
        <p:nvPr/>
      </p:nvGrpSpPr>
      <p:grpSpPr>
        <a:xfrm>
          <a:off x="0" y="0"/>
          <a:ext cx="0" cy="0"/>
          <a:chOff x="0" y="0"/>
          <a:chExt cx="0" cy="0"/>
        </a:xfrm>
      </p:grpSpPr>
      <p:sp>
        <p:nvSpPr>
          <p:cNvPr id="57" name="Google Shape;57;p32"/>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32"/>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32"/>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32"/>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rgbClr val="FFFFFF"/>
        </a:solidFill>
      </p:bgPr>
    </p:bg>
    <p:spTree>
      <p:nvGrpSpPr>
        <p:cNvPr id="61" name="Shape 61"/>
        <p:cNvGrpSpPr/>
        <p:nvPr/>
      </p:nvGrpSpPr>
      <p:grpSpPr>
        <a:xfrm>
          <a:off x="0" y="0"/>
          <a:ext cx="0" cy="0"/>
          <a:chOff x="0" y="0"/>
          <a:chExt cx="0" cy="0"/>
        </a:xfrm>
      </p:grpSpPr>
      <p:sp>
        <p:nvSpPr>
          <p:cNvPr id="62" name="Google Shape;62;p33"/>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p33"/>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33"/>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solidFill>
          <a:srgbClr val="FFFFFF"/>
        </a:solidFill>
      </p:bgPr>
    </p:bg>
    <p:spTree>
      <p:nvGrpSpPr>
        <p:cNvPr id="65" name="Shape 65"/>
        <p:cNvGrpSpPr/>
        <p:nvPr/>
      </p:nvGrpSpPr>
      <p:grpSpPr>
        <a:xfrm>
          <a:off x="0" y="0"/>
          <a:ext cx="0" cy="0"/>
          <a:chOff x="0" y="0"/>
          <a:chExt cx="0" cy="0"/>
        </a:xfrm>
      </p:grpSpPr>
      <p:sp>
        <p:nvSpPr>
          <p:cNvPr id="66" name="Google Shape;66;p34"/>
          <p:cNvSpPr txBox="1"/>
          <p:nvPr>
            <p:ph type="title"/>
          </p:nvPr>
        </p:nvSpPr>
        <p:spPr>
          <a:xfrm>
            <a:off x="839880" y="457200"/>
            <a:ext cx="3931920" cy="159984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p34"/>
          <p:cNvSpPr txBox="1"/>
          <p:nvPr>
            <p:ph idx="1" type="body"/>
          </p:nvPr>
        </p:nvSpPr>
        <p:spPr>
          <a:xfrm>
            <a:off x="5183280" y="987480"/>
            <a:ext cx="6171840" cy="487332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34"/>
          <p:cNvSpPr txBox="1"/>
          <p:nvPr>
            <p:ph idx="2" type="body"/>
          </p:nvPr>
        </p:nvSpPr>
        <p:spPr>
          <a:xfrm>
            <a:off x="839880" y="2057400"/>
            <a:ext cx="3931920" cy="381132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9" name="Google Shape;69;p34"/>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 name="Google Shape;70;p34"/>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 name="Google Shape;71;p34"/>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bg>
      <p:bgPr>
        <a:solidFill>
          <a:srgbClr val="FFFFFF"/>
        </a:solidFill>
      </p:bgPr>
    </p:bg>
    <p:spTree>
      <p:nvGrpSpPr>
        <p:cNvPr id="72" name="Shape 72"/>
        <p:cNvGrpSpPr/>
        <p:nvPr/>
      </p:nvGrpSpPr>
      <p:grpSpPr>
        <a:xfrm>
          <a:off x="0" y="0"/>
          <a:ext cx="0" cy="0"/>
          <a:chOff x="0" y="0"/>
          <a:chExt cx="0" cy="0"/>
        </a:xfrm>
      </p:grpSpPr>
      <p:sp>
        <p:nvSpPr>
          <p:cNvPr id="73" name="Google Shape;73;p35"/>
          <p:cNvSpPr txBox="1"/>
          <p:nvPr>
            <p:ph type="title"/>
          </p:nvPr>
        </p:nvSpPr>
        <p:spPr>
          <a:xfrm>
            <a:off x="839880" y="457200"/>
            <a:ext cx="3931920" cy="159984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35"/>
          <p:cNvSpPr txBox="1"/>
          <p:nvPr>
            <p:ph idx="1" type="body"/>
          </p:nvPr>
        </p:nvSpPr>
        <p:spPr>
          <a:xfrm>
            <a:off x="5183280" y="987480"/>
            <a:ext cx="6171840" cy="487332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5" name="Google Shape;75;p35"/>
          <p:cNvSpPr txBox="1"/>
          <p:nvPr>
            <p:ph idx="2" type="body"/>
          </p:nvPr>
        </p:nvSpPr>
        <p:spPr>
          <a:xfrm>
            <a:off x="839880" y="2057400"/>
            <a:ext cx="3931920" cy="381132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6" name="Google Shape;76;p35"/>
          <p:cNvSpPr txBox="1"/>
          <p:nvPr>
            <p:ph idx="10" type="dt"/>
          </p:nvPr>
        </p:nvSpPr>
        <p:spPr>
          <a:xfrm>
            <a:off x="838080" y="6356520"/>
            <a:ext cx="27428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7" name="Google Shape;77;p35"/>
          <p:cNvSpPr txBox="1"/>
          <p:nvPr>
            <p:ph idx="11" type="ftr"/>
          </p:nvPr>
        </p:nvSpPr>
        <p:spPr>
          <a:xfrm>
            <a:off x="4038480" y="6356520"/>
            <a:ext cx="411444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8" name="Google Shape;78;p35"/>
          <p:cNvSpPr txBox="1"/>
          <p:nvPr>
            <p:ph idx="12" type="sldNum"/>
          </p:nvPr>
        </p:nvSpPr>
        <p:spPr>
          <a:xfrm>
            <a:off x="8610480" y="6356520"/>
            <a:ext cx="27428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leetcode.com/problems/intersection-of-two-linked-lists/" TargetMode="External"/><Relationship Id="rId4" Type="http://schemas.openxmlformats.org/officeDocument/2006/relationships/hyperlink" Target="https://leetcode.com/problems/intersection-of-two-linked-lists/" TargetMode="External"/><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leetcode.com/problems/reverse-linked-list/" TargetMode="External"/><Relationship Id="rId4" Type="http://schemas.openxmlformats.org/officeDocument/2006/relationships/hyperlink" Target="https://leetcode.com/problems/reverse-linked-list/" TargetMode="Externa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leetcode.com/problems/linked-list-cycle/" TargetMode="External"/><Relationship Id="rId4" Type="http://schemas.openxmlformats.org/officeDocument/2006/relationships/hyperlink" Target="https://leetcode.com/problems/linked-list-cycle/" TargetMode="External"/><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leetcode.com/problems/linked-list-cycle-ii/" TargetMode="External"/><Relationship Id="rId4" Type="http://schemas.openxmlformats.org/officeDocument/2006/relationships/hyperlink" Target="https://leetcode.com/problems/linked-list-cycle-ii/" TargetMode="External"/><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title"/>
          </p:nvPr>
        </p:nvSpPr>
        <p:spPr>
          <a:xfrm>
            <a:off x="1523880" y="1758600"/>
            <a:ext cx="9143640" cy="238716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7000"/>
              <a:buFont typeface="Cambria"/>
              <a:buNone/>
            </a:pPr>
            <a:r>
              <a:rPr b="0" lang="en-IN" sz="7000" u="none" strike="noStrike">
                <a:solidFill>
                  <a:schemeClr val="dk1"/>
                </a:solidFill>
                <a:latin typeface="Cambria"/>
                <a:ea typeface="Cambria"/>
                <a:cs typeface="Cambria"/>
                <a:sym typeface="Cambria"/>
              </a:rPr>
              <a:t>Practical 8</a:t>
            </a:r>
            <a:endParaRPr b="0" sz="7000" u="none" strike="noStrike">
              <a:solidFill>
                <a:schemeClr val="dk1"/>
              </a:solidFill>
              <a:latin typeface="Calibri"/>
              <a:ea typeface="Calibri"/>
              <a:cs typeface="Calibri"/>
              <a:sym typeface="Calibri"/>
            </a:endParaRPr>
          </a:p>
        </p:txBody>
      </p:sp>
      <p:sp>
        <p:nvSpPr>
          <p:cNvPr id="84" name="Google Shape;84;p1"/>
          <p:cNvSpPr txBox="1"/>
          <p:nvPr>
            <p:ph idx="1" type="subTitle"/>
          </p:nvPr>
        </p:nvSpPr>
        <p:spPr>
          <a:xfrm>
            <a:off x="1523880" y="4198320"/>
            <a:ext cx="9143640" cy="16552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Find Merge Point (Intersection) of Two Sorted Linked Lists </a:t>
            </a:r>
            <a:endParaRPr b="0" i="0" sz="2400" u="none" cap="none" strike="noStrike">
              <a:solidFill>
                <a:srgbClr val="000000"/>
              </a:solidFill>
              <a:latin typeface="Arial"/>
              <a:ea typeface="Arial"/>
              <a:cs typeface="Arial"/>
              <a:sym typeface="Arial"/>
            </a:endParaRPr>
          </a:p>
          <a:p>
            <a:pPr indent="0" lvl="0" marL="0" marR="0" rtl="0" algn="ctr">
              <a:lnSpc>
                <a:spcPct val="90000"/>
              </a:lnSpc>
              <a:spcBef>
                <a:spcPts val="1993"/>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5" name="Google Shape;85;p1"/>
          <p:cNvSpPr/>
          <p:nvPr/>
        </p:nvSpPr>
        <p:spPr>
          <a:xfrm>
            <a:off x="3070800" y="1514520"/>
            <a:ext cx="6050160" cy="1517400"/>
          </a:xfrm>
          <a:custGeom>
            <a:rect b="b" l="l" r="r" t="t"/>
            <a:pathLst>
              <a:path extrusionOk="0" h="1517789" w="6050518">
                <a:moveTo>
                  <a:pt x="0" y="0"/>
                </a:moveTo>
                <a:lnTo>
                  <a:pt x="6050518" y="0"/>
                </a:lnTo>
                <a:lnTo>
                  <a:pt x="6050518" y="1517788"/>
                </a:lnTo>
                <a:lnTo>
                  <a:pt x="0" y="1517788"/>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graphicFrame>
        <p:nvGraphicFramePr>
          <p:cNvPr id="90" name="Google Shape;90;p2"/>
          <p:cNvGraphicFramePr/>
          <p:nvPr/>
        </p:nvGraphicFramePr>
        <p:xfrm>
          <a:off x="3309480" y="1265760"/>
          <a:ext cx="3000000" cy="3000000"/>
        </p:xfrm>
        <a:graphic>
          <a:graphicData uri="http://schemas.openxmlformats.org/drawingml/2006/table">
            <a:tbl>
              <a:tblPr>
                <a:noFill/>
                <a:tableStyleId>{01C05C04-2CEC-46CA-9F16-A892D877406B}</a:tableStyleId>
              </a:tblPr>
              <a:tblGrid>
                <a:gridCol w="5342750"/>
              </a:tblGrid>
              <a:tr h="357850">
                <a:tc>
                  <a:txBody>
                    <a:bodyPr/>
                    <a:lstStyle/>
                    <a:p>
                      <a:pPr indent="0" lvl="0" marL="0" marR="0" rtl="0" algn="ctr">
                        <a:lnSpc>
                          <a:spcPct val="100000"/>
                        </a:lnSpc>
                        <a:spcBef>
                          <a:spcPts val="0"/>
                        </a:spcBef>
                        <a:spcAft>
                          <a:spcPts val="0"/>
                        </a:spcAft>
                        <a:buClr>
                          <a:srgbClr val="000000"/>
                        </a:buClr>
                        <a:buSzPts val="2400"/>
                        <a:buFont typeface="Arial"/>
                        <a:buNone/>
                      </a:pPr>
                      <a:r>
                        <a:rPr b="1" lang="en-IN" sz="2400" u="none" cap="none" strike="noStrike">
                          <a:solidFill>
                            <a:srgbClr val="000000"/>
                          </a:solidFill>
                          <a:latin typeface="Cambria"/>
                          <a:ea typeface="Cambria"/>
                          <a:cs typeface="Cambria"/>
                          <a:sym typeface="Cambria"/>
                        </a:rPr>
                        <a:t>Lesson Plan</a:t>
                      </a:r>
                      <a:endParaRPr b="0" sz="24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91" name="Google Shape;91;p2"/>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aphicFrame>
        <p:nvGraphicFramePr>
          <p:cNvPr id="92" name="Google Shape;92;p2"/>
          <p:cNvGraphicFramePr/>
          <p:nvPr/>
        </p:nvGraphicFramePr>
        <p:xfrm>
          <a:off x="1461240" y="2746440"/>
          <a:ext cx="3000000" cy="3000000"/>
        </p:xfrm>
        <a:graphic>
          <a:graphicData uri="http://schemas.openxmlformats.org/drawingml/2006/table">
            <a:tbl>
              <a:tblPr>
                <a:noFill/>
                <a:tableStyleId>{01C05C04-2CEC-46CA-9F16-A892D877406B}</a:tableStyleId>
              </a:tblPr>
              <a:tblGrid>
                <a:gridCol w="2864875"/>
                <a:gridCol w="6194150"/>
              </a:tblGrid>
              <a:tr h="15985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000000"/>
                          </a:solidFill>
                          <a:latin typeface="Cambria"/>
                          <a:ea typeface="Cambria"/>
                          <a:cs typeface="Cambria"/>
                          <a:sym typeface="Cambria"/>
                        </a:rPr>
                        <a:t>Subject/Course</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rgbClr val="0070C0"/>
                          </a:solidFill>
                          <a:latin typeface="Cambria"/>
                          <a:ea typeface="Cambria"/>
                          <a:cs typeface="Cambria"/>
                          <a:sym typeface="Cambria"/>
                        </a:rPr>
                        <a:t>Competitive Coding</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5985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000000"/>
                          </a:solidFill>
                          <a:latin typeface="Cambria"/>
                          <a:ea typeface="Cambria"/>
                          <a:cs typeface="Cambria"/>
                          <a:sym typeface="Cambria"/>
                        </a:rPr>
                        <a:t>Lesson Title</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rgbClr val="0070C0"/>
                          </a:solidFill>
                          <a:latin typeface="Cambria"/>
                          <a:ea typeface="Cambria"/>
                          <a:cs typeface="Cambria"/>
                          <a:sym typeface="Cambria"/>
                        </a:rPr>
                        <a:t>Find Merge Point of Two Sorted Linked Lists </a:t>
                      </a:r>
                      <a:endParaRPr b="1" sz="1800" u="none" cap="none" strike="noStrike">
                        <a:solidFill>
                          <a:srgbClr val="0070C0"/>
                        </a:solidFill>
                        <a:latin typeface="Cambria"/>
                        <a:ea typeface="Cambria"/>
                        <a:cs typeface="Cambria"/>
                        <a:sym typeface="Cambria"/>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graphicFrame>
        <p:nvGraphicFramePr>
          <p:cNvPr id="93" name="Google Shape;93;p2"/>
          <p:cNvGraphicFramePr/>
          <p:nvPr/>
        </p:nvGraphicFramePr>
        <p:xfrm>
          <a:off x="1470960" y="3595320"/>
          <a:ext cx="3000000" cy="3000000"/>
        </p:xfrm>
        <a:graphic>
          <a:graphicData uri="http://schemas.openxmlformats.org/drawingml/2006/table">
            <a:tbl>
              <a:tblPr>
                <a:noFill/>
                <a:tableStyleId>{01C05C04-2CEC-46CA-9F16-A892D877406B}</a:tableStyleId>
              </a:tblPr>
              <a:tblGrid>
                <a:gridCol w="9039250"/>
              </a:tblGrid>
              <a:tr h="20555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C00000"/>
                          </a:solidFill>
                          <a:latin typeface="Cambria"/>
                          <a:ea typeface="Cambria"/>
                          <a:cs typeface="Cambria"/>
                          <a:sym typeface="Cambria"/>
                        </a:rPr>
                        <a:t>Lesson Objectives</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55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chemeClr val="dk1"/>
                          </a:solidFill>
                          <a:latin typeface="Cambria"/>
                          <a:ea typeface="Cambria"/>
                          <a:cs typeface="Cambria"/>
                          <a:sym typeface="Cambria"/>
                        </a:rPr>
                        <a:t>Find Merge Point (Intersection) of Two Sorted Linked Lists </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55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rgbClr val="000000"/>
                          </a:solidFill>
                          <a:latin typeface="Cambria"/>
                          <a:ea typeface="Cambria"/>
                          <a:cs typeface="Cambria"/>
                          <a:sym typeface="Cambria"/>
                        </a:rPr>
                        <a:t>Detect whether two singly linked lists intersect (share nodes).</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chemeClr val="dk1"/>
                          </a:solidFill>
                          <a:latin typeface="Cambria"/>
                          <a:ea typeface="Cambria"/>
                          <a:cs typeface="Cambria"/>
                          <a:sym typeface="Cambria"/>
                        </a:rPr>
                        <a:t>Achieve O(m + n) time and O(1) extra space.</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solidFill>
                            <a:schemeClr val="dk1"/>
                          </a:solidFill>
                          <a:latin typeface="Cambria"/>
                          <a:ea typeface="Cambria"/>
                          <a:cs typeface="Cambria"/>
                          <a:sym typeface="Cambria"/>
                        </a:rPr>
                        <a:t>When lists intersect they share the same tail from the merge point onward.</a:t>
                      </a:r>
                      <a:endParaRPr b="0" sz="1800" u="none" cap="none" strike="noStrike">
                        <a:solidFill>
                          <a:srgbClr val="000000"/>
                        </a:solidFill>
                        <a:latin typeface="Arial"/>
                        <a:ea typeface="Arial"/>
                        <a:cs typeface="Arial"/>
                        <a:sym typeface="Arial"/>
                      </a:endParaRPr>
                    </a:p>
                  </a:txBody>
                  <a:tcPr marT="45725" marB="45725" marR="75950" marL="75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94" name="Google Shape;94;p2"/>
          <p:cNvSpPr/>
          <p:nvPr/>
        </p:nvSpPr>
        <p:spPr>
          <a:xfrm>
            <a:off x="3231000" y="4523400"/>
            <a:ext cx="12191760" cy="4568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000"/>
              <a:buFont typeface="Cambria"/>
              <a:buNone/>
            </a:pPr>
            <a:r>
              <a:rPr b="1" lang="en-IN" sz="4000" u="none" strike="noStrike">
                <a:solidFill>
                  <a:srgbClr val="000000"/>
                </a:solidFill>
                <a:latin typeface="Cambria"/>
                <a:ea typeface="Cambria"/>
                <a:cs typeface="Cambria"/>
                <a:sym typeface="Cambria"/>
              </a:rPr>
              <a:t>Problem Statement: </a:t>
            </a:r>
            <a:endParaRPr b="0" sz="4000" u="none" strike="noStrike">
              <a:solidFill>
                <a:schemeClr val="dk1"/>
              </a:solidFill>
              <a:latin typeface="Calibri"/>
              <a:ea typeface="Calibri"/>
              <a:cs typeface="Calibri"/>
              <a:sym typeface="Calibri"/>
            </a:endParaRPr>
          </a:p>
        </p:txBody>
      </p:sp>
      <p:sp>
        <p:nvSpPr>
          <p:cNvPr id="100" name="Google Shape;100;p3"/>
          <p:cNvSpPr txBox="1"/>
          <p:nvPr>
            <p:ph idx="1" type="body"/>
          </p:nvPr>
        </p:nvSpPr>
        <p:spPr>
          <a:xfrm>
            <a:off x="838080" y="1825560"/>
            <a:ext cx="10515240" cy="435096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Write a program to find the Merge point of two sorted linked lists.</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 </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01" name="Google Shape;101;p3"/>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Concept</a:t>
            </a:r>
            <a:endParaRPr b="0" sz="4000" u="none" strike="noStrike">
              <a:solidFill>
                <a:schemeClr val="dk1"/>
              </a:solidFill>
              <a:latin typeface="Calibri"/>
              <a:ea typeface="Calibri"/>
              <a:cs typeface="Calibri"/>
              <a:sym typeface="Calibri"/>
            </a:endParaRPr>
          </a:p>
        </p:txBody>
      </p:sp>
      <p:sp>
        <p:nvSpPr>
          <p:cNvPr id="107" name="Google Shape;107;p4"/>
          <p:cNvSpPr txBox="1"/>
          <p:nvPr>
            <p:ph idx="1" type="body"/>
          </p:nvPr>
        </p:nvSpPr>
        <p:spPr>
          <a:xfrm>
            <a:off x="838080" y="1690560"/>
            <a:ext cx="10515240" cy="448596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2800"/>
              <a:buFont typeface="Cambria"/>
              <a:buNone/>
            </a:pPr>
            <a:r>
              <a:rPr b="0" i="0" lang="en-IN" sz="2800" u="none" cap="none" strike="noStrike">
                <a:solidFill>
                  <a:schemeClr val="dk1"/>
                </a:solidFill>
                <a:latin typeface="Cambria"/>
                <a:ea typeface="Cambria"/>
                <a:cs typeface="Cambria"/>
                <a:sym typeface="Cambria"/>
              </a:rPr>
              <a:t>A linked list is a linear data structure composed of a sequence of nodes, where each node contains data and a pointer (or reference) to the next node in the sequence. </a:t>
            </a:r>
            <a:endParaRPr b="0" i="0" sz="2800" u="none" cap="none" strike="noStrike">
              <a:solidFill>
                <a:schemeClr val="dk1"/>
              </a:solidFill>
              <a:latin typeface="Calibri"/>
              <a:ea typeface="Calibri"/>
              <a:cs typeface="Calibri"/>
              <a:sym typeface="Calibri"/>
            </a:endParaRPr>
          </a:p>
          <a:p>
            <a:pPr indent="0" lvl="0" marL="0" marR="0" rtl="0" algn="just">
              <a:lnSpc>
                <a:spcPct val="90000"/>
              </a:lnSpc>
              <a:spcBef>
                <a:spcPts val="1993"/>
              </a:spcBef>
              <a:spcAft>
                <a:spcPts val="0"/>
              </a:spcAft>
              <a:buClr>
                <a:schemeClr val="dk1"/>
              </a:buClr>
              <a:buSzPts val="2800"/>
              <a:buFont typeface="Cambria"/>
              <a:buNone/>
            </a:pPr>
            <a:r>
              <a:rPr b="1" i="0" lang="en-IN" sz="2800" u="none" cap="none" strike="noStrike">
                <a:solidFill>
                  <a:schemeClr val="dk1"/>
                </a:solidFill>
                <a:latin typeface="Cambria"/>
                <a:ea typeface="Cambria"/>
                <a:cs typeface="Cambria"/>
                <a:sym typeface="Cambria"/>
              </a:rPr>
              <a:t>Common operations:</a:t>
            </a:r>
            <a:endParaRPr b="0" i="0" sz="28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Insertion: Adding a new node to the linked list</a:t>
            </a:r>
            <a:endParaRPr b="0" i="0" sz="24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Deletion: Removing a node from the linked list.</a:t>
            </a:r>
            <a:endParaRPr b="0" i="0" sz="24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Traversal</a:t>
            </a:r>
            <a:endParaRPr b="0" i="0" sz="2400" u="none" cap="none" strike="noStrike">
              <a:solidFill>
                <a:schemeClr val="dk1"/>
              </a:solidFill>
              <a:latin typeface="Calibri"/>
              <a:ea typeface="Calibri"/>
              <a:cs typeface="Calibri"/>
              <a:sym typeface="Calibri"/>
            </a:endParaRPr>
          </a:p>
          <a:p>
            <a:pPr indent="-228600" lvl="1" marL="685800" marR="0" rtl="0" algn="just">
              <a:lnSpc>
                <a:spcPct val="110000"/>
              </a:lnSpc>
              <a:spcBef>
                <a:spcPts val="499"/>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Searching</a:t>
            </a:r>
            <a:endParaRPr b="0" i="0" sz="2400" u="none" cap="none" strike="noStrike">
              <a:solidFill>
                <a:schemeClr val="dk1"/>
              </a:solidFill>
              <a:latin typeface="Calibri"/>
              <a:ea typeface="Calibri"/>
              <a:cs typeface="Calibri"/>
              <a:sym typeface="Calibri"/>
            </a:endParaRPr>
          </a:p>
          <a:p>
            <a:pPr indent="0" lvl="1" marL="685800" marR="0" rtl="0" algn="just">
              <a:lnSpc>
                <a:spcPct val="110000"/>
              </a:lnSpc>
              <a:spcBef>
                <a:spcPts val="499"/>
              </a:spcBef>
              <a:spcAft>
                <a:spcPts val="0"/>
              </a:spcAft>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08" name="Google Shape;108;p4"/>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Algorithm/Logic</a:t>
            </a:r>
            <a:endParaRPr b="0" sz="4000" u="none" strike="noStrike">
              <a:solidFill>
                <a:schemeClr val="dk1"/>
              </a:solidFill>
              <a:latin typeface="Calibri"/>
              <a:ea typeface="Calibri"/>
              <a:cs typeface="Calibri"/>
              <a:sym typeface="Calibri"/>
            </a:endParaRPr>
          </a:p>
        </p:txBody>
      </p:sp>
      <p:sp>
        <p:nvSpPr>
          <p:cNvPr id="114" name="Google Shape;114;p5"/>
          <p:cNvSpPr txBox="1"/>
          <p:nvPr>
            <p:ph idx="1" type="body"/>
          </p:nvPr>
        </p:nvSpPr>
        <p:spPr>
          <a:xfrm>
            <a:off x="838080" y="1825560"/>
            <a:ext cx="10515240" cy="435096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rgbClr val="196391"/>
              </a:buClr>
              <a:buSzPts val="2800"/>
              <a:buFont typeface="Cambria"/>
              <a:buNone/>
            </a:pPr>
            <a:r>
              <a:rPr b="1" i="0" lang="en-IN" sz="2800" u="none" cap="none" strike="noStrike">
                <a:solidFill>
                  <a:srgbClr val="196391"/>
                </a:solidFill>
                <a:latin typeface="Cambria"/>
                <a:ea typeface="Cambria"/>
                <a:cs typeface="Cambria"/>
                <a:sym typeface="Cambria"/>
              </a:rPr>
              <a:t>1. Step by Step Pseudocode:</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191"/>
              </a:spcBef>
              <a:spcAft>
                <a:spcPts val="0"/>
              </a:spcAft>
              <a:buClr>
                <a:schemeClr val="dk1"/>
              </a:buClr>
              <a:buSzPts val="2400"/>
              <a:buFont typeface="Cambria"/>
              <a:buNone/>
            </a:pPr>
            <a:r>
              <a:rPr b="0" i="0" lang="en-IN" sz="2400" u="none" cap="none" strike="noStrike">
                <a:solidFill>
                  <a:schemeClr val="dk1"/>
                </a:solidFill>
                <a:latin typeface="Cambria"/>
                <a:ea typeface="Cambria"/>
                <a:cs typeface="Cambria"/>
                <a:sym typeface="Cambria"/>
              </a:rPr>
              <a:t>Compute lengths lenA and lenB of both lists.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2183"/>
              </a:spcBef>
              <a:spcAft>
                <a:spcPts val="0"/>
              </a:spcAft>
              <a:buClr>
                <a:srgbClr val="000000"/>
              </a:buClr>
              <a:buSzPts val="2400"/>
              <a:buFont typeface="Cambria"/>
              <a:buNone/>
            </a:pPr>
            <a:r>
              <a:rPr b="0" i="0" lang="en-IN" sz="2400" u="none" cap="none" strike="noStrike">
                <a:solidFill>
                  <a:srgbClr val="000000"/>
                </a:solidFill>
                <a:latin typeface="Cambria"/>
                <a:ea typeface="Cambria"/>
                <a:cs typeface="Cambria"/>
                <a:sym typeface="Cambria"/>
              </a:rPr>
              <a:t>Advance the longer list by abs(lenA - lenB) steps.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2183"/>
              </a:spcBef>
              <a:spcAft>
                <a:spcPts val="0"/>
              </a:spcAft>
              <a:buClr>
                <a:srgbClr val="000000"/>
              </a:buClr>
              <a:buSzPts val="2400"/>
              <a:buFont typeface="Cambria"/>
              <a:buNone/>
            </a:pPr>
            <a:r>
              <a:rPr b="0" i="0" lang="en-IN" sz="2400" u="none" cap="none" strike="noStrike">
                <a:solidFill>
                  <a:srgbClr val="000000"/>
                </a:solidFill>
                <a:latin typeface="Cambria"/>
                <a:ea typeface="Cambria"/>
                <a:cs typeface="Cambria"/>
                <a:sym typeface="Cambria"/>
              </a:rPr>
              <a:t>Walk both lists step-by-step comparing node references.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2183"/>
              </a:spcBef>
              <a:spcAft>
                <a:spcPts val="0"/>
              </a:spcAft>
              <a:buClr>
                <a:srgbClr val="000000"/>
              </a:buClr>
              <a:buSzPts val="2400"/>
              <a:buFont typeface="Cambria"/>
              <a:buNone/>
            </a:pPr>
            <a:r>
              <a:rPr b="0" i="0" lang="en-IN" sz="2400" u="none" cap="none" strike="noStrike">
                <a:solidFill>
                  <a:srgbClr val="000000"/>
                </a:solidFill>
                <a:latin typeface="Cambria"/>
                <a:ea typeface="Cambria"/>
                <a:cs typeface="Cambria"/>
                <a:sym typeface="Cambria"/>
              </a:rPr>
              <a:t>First node where nodeA == nodeB is the intersection. If none — return null.</a:t>
            </a:r>
            <a:endParaRPr b="0" i="0" sz="2400" u="none" cap="none" strike="noStrike">
              <a:solidFill>
                <a:schemeClr val="dk1"/>
              </a:solidFill>
              <a:latin typeface="Calibri"/>
              <a:ea typeface="Calibri"/>
              <a:cs typeface="Calibri"/>
              <a:sym typeface="Calibri"/>
            </a:endParaRPr>
          </a:p>
          <a:p>
            <a:pPr indent="0" lvl="0" marL="0" marR="0" rtl="0" algn="just">
              <a:lnSpc>
                <a:spcPct val="90000"/>
              </a:lnSpc>
              <a:spcBef>
                <a:spcPts val="1993"/>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5" name="Google Shape;115;p5"/>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 name="Google Shape;121;p6"/>
          <p:cNvSpPr/>
          <p:nvPr/>
        </p:nvSpPr>
        <p:spPr>
          <a:xfrm>
            <a:off x="887760" y="2047320"/>
            <a:ext cx="10005120" cy="4611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 name="Google Shape;122;p6"/>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Visualization</a:t>
            </a:r>
            <a:endParaRPr b="0" sz="4000" u="none" strike="noStrike">
              <a:solidFill>
                <a:schemeClr val="dk1"/>
              </a:solidFill>
              <a:latin typeface="Calibri"/>
              <a:ea typeface="Calibri"/>
              <a:cs typeface="Calibri"/>
              <a:sym typeface="Calibri"/>
            </a:endParaRPr>
          </a:p>
        </p:txBody>
      </p:sp>
      <p:sp>
        <p:nvSpPr>
          <p:cNvPr id="123" name="Google Shape;123;p6"/>
          <p:cNvSpPr txBox="1"/>
          <p:nvPr/>
        </p:nvSpPr>
        <p:spPr>
          <a:xfrm>
            <a:off x="1080000" y="1918800"/>
            <a:ext cx="7852320" cy="33012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Two lists intersecting at node X: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List A:  A1 -&gt; A2 -&gt; A3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                         -&gt; X -&gt; X.next -&gt;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List B:       B1 -&gt; B2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Walk alignment (after advancing longer list or via pointer switching):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After advancing longer:</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A3 -&gt; X -&gt;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B2 -&gt; X -&gt;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Code Implementation</a:t>
            </a:r>
            <a:endParaRPr b="0" sz="4000" u="none" strike="noStrike">
              <a:solidFill>
                <a:schemeClr val="dk1"/>
              </a:solidFill>
              <a:latin typeface="Calibri"/>
              <a:ea typeface="Calibri"/>
              <a:cs typeface="Calibri"/>
              <a:sym typeface="Calibri"/>
            </a:endParaRPr>
          </a:p>
        </p:txBody>
      </p:sp>
      <p:sp>
        <p:nvSpPr>
          <p:cNvPr id="129" name="Google Shape;129;p7"/>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30" name="Google Shape;130;p7"/>
          <p:cNvPicPr preferRelativeResize="0"/>
          <p:nvPr/>
        </p:nvPicPr>
        <p:blipFill rotWithShape="1">
          <a:blip r:embed="rId4">
            <a:alphaModFix/>
          </a:blip>
          <a:srcRect b="0" l="0" r="0" t="0"/>
          <a:stretch/>
        </p:blipFill>
        <p:spPr>
          <a:xfrm>
            <a:off x="1411246" y="1621374"/>
            <a:ext cx="8275396" cy="38376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6"/>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Code Implementation</a:t>
            </a:r>
            <a:endParaRPr b="0" sz="4000" u="none" strike="noStrike">
              <a:solidFill>
                <a:schemeClr val="dk1"/>
              </a:solidFill>
              <a:latin typeface="Calibri"/>
              <a:ea typeface="Calibri"/>
              <a:cs typeface="Calibri"/>
              <a:sym typeface="Calibri"/>
            </a:endParaRPr>
          </a:p>
        </p:txBody>
      </p:sp>
      <p:sp>
        <p:nvSpPr>
          <p:cNvPr id="136" name="Google Shape;136;p36"/>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37" name="Google Shape;137;p36"/>
          <p:cNvPicPr preferRelativeResize="0"/>
          <p:nvPr/>
        </p:nvPicPr>
        <p:blipFill rotWithShape="1">
          <a:blip r:embed="rId4">
            <a:alphaModFix/>
          </a:blip>
          <a:srcRect b="0" l="0" r="0" t="0"/>
          <a:stretch/>
        </p:blipFill>
        <p:spPr>
          <a:xfrm>
            <a:off x="1376518" y="1921765"/>
            <a:ext cx="10347080" cy="28348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b="1" lang="en-IN" sz="4000">
                <a:latin typeface="Cambria"/>
                <a:ea typeface="Cambria"/>
                <a:cs typeface="Cambria"/>
                <a:sym typeface="Cambria"/>
              </a:rPr>
              <a:t>Output :</a:t>
            </a:r>
            <a:endParaRPr b="1" sz="4000">
              <a:latin typeface="Cambria"/>
              <a:ea typeface="Cambria"/>
              <a:cs typeface="Cambria"/>
              <a:sym typeface="Cambria"/>
            </a:endParaRPr>
          </a:p>
        </p:txBody>
      </p:sp>
      <p:sp>
        <p:nvSpPr>
          <p:cNvPr id="143" name="Google Shape;143;p19"/>
          <p:cNvSpPr/>
          <p:nvPr/>
        </p:nvSpPr>
        <p:spPr>
          <a:xfrm>
            <a:off x="9991483" y="4"/>
            <a:ext cx="2145711" cy="995946"/>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144" name="Google Shape;144;p19"/>
          <p:cNvSpPr/>
          <p:nvPr/>
        </p:nvSpPr>
        <p:spPr>
          <a:xfrm>
            <a:off x="1720646" y="2005782"/>
            <a:ext cx="8111613" cy="3156154"/>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5" name="Google Shape;145;p19"/>
          <p:cNvSpPr txBox="1"/>
          <p:nvPr/>
        </p:nvSpPr>
        <p:spPr>
          <a:xfrm>
            <a:off x="1848466" y="2202427"/>
            <a:ext cx="7747819" cy="57778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N" sz="2400" u="none" cap="none" strike="noStrike">
                <a:solidFill>
                  <a:schemeClr val="lt1"/>
                </a:solidFill>
                <a:latin typeface="Cambria"/>
                <a:ea typeface="Cambria"/>
                <a:cs typeface="Cambria"/>
                <a:sym typeface="Cambria"/>
              </a:rPr>
              <a:t>Merge Point: 30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Time &amp; Space Complexity</a:t>
            </a:r>
            <a:endParaRPr b="0" sz="4000" u="none" strike="noStrike">
              <a:solidFill>
                <a:schemeClr val="dk1"/>
              </a:solidFill>
              <a:latin typeface="Calibri"/>
              <a:ea typeface="Calibri"/>
              <a:cs typeface="Calibri"/>
              <a:sym typeface="Calibri"/>
            </a:endParaRPr>
          </a:p>
        </p:txBody>
      </p:sp>
      <p:sp>
        <p:nvSpPr>
          <p:cNvPr id="151" name="Google Shape;151;p9"/>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 name="Google Shape;152;p9"/>
          <p:cNvSpPr txBox="1"/>
          <p:nvPr/>
        </p:nvSpPr>
        <p:spPr>
          <a:xfrm>
            <a:off x="913320" y="1620000"/>
            <a:ext cx="9886680" cy="36838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The time complexity of the getIntersectionNode function is O(M + N), where M is the length of the first linked list (headA) and N is the length of the second linked list (headB).</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Cambria"/>
                <a:ea typeface="Cambria"/>
                <a:cs typeface="Cambria"/>
                <a:sym typeface="Cambria"/>
              </a:rPr>
              <a:t>The space complexity of the getIntersectionNode function is O(1).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838080" y="365040"/>
            <a:ext cx="10515240" cy="13251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u="none" strike="noStrike">
                <a:solidFill>
                  <a:schemeClr val="dk1"/>
                </a:solidFill>
                <a:latin typeface="Cambria"/>
                <a:ea typeface="Cambria"/>
                <a:cs typeface="Cambria"/>
                <a:sym typeface="Cambria"/>
              </a:rPr>
              <a:t>Summary</a:t>
            </a:r>
            <a:endParaRPr b="0" sz="4000" u="none" strike="noStrike">
              <a:solidFill>
                <a:schemeClr val="dk1"/>
              </a:solidFill>
              <a:latin typeface="Calibri"/>
              <a:ea typeface="Calibri"/>
              <a:cs typeface="Calibri"/>
              <a:sym typeface="Calibri"/>
            </a:endParaRPr>
          </a:p>
        </p:txBody>
      </p:sp>
      <p:sp>
        <p:nvSpPr>
          <p:cNvPr id="158" name="Google Shape;158;p10"/>
          <p:cNvSpPr txBox="1"/>
          <p:nvPr>
            <p:ph idx="1" type="body"/>
          </p:nvPr>
        </p:nvSpPr>
        <p:spPr>
          <a:xfrm>
            <a:off x="838080" y="1825560"/>
            <a:ext cx="10515240" cy="4350960"/>
          </a:xfrm>
          <a:prstGeom prst="rect">
            <a:avLst/>
          </a:prstGeom>
          <a:noFill/>
          <a:ln>
            <a:noFill/>
          </a:ln>
        </p:spPr>
        <p:txBody>
          <a:bodyPr anchorCtr="0" anchor="t" bIns="45700" lIns="91425" spcFirstLastPara="1" rIns="91425" wrap="square" tIns="45700">
            <a:normAutofit/>
          </a:bodyPr>
          <a:lstStyle/>
          <a:p>
            <a:pPr indent="-228600" lvl="0" marL="228600" marR="0" rtl="0" algn="just">
              <a:lnSpc>
                <a:spcPct val="90000"/>
              </a:lnSpc>
              <a:spcBef>
                <a:spcPts val="0"/>
              </a:spcBef>
              <a:spcAft>
                <a:spcPts val="0"/>
              </a:spcAft>
              <a:buClr>
                <a:srgbClr val="000000"/>
              </a:buClr>
              <a:buSzPts val="2400"/>
              <a:buFont typeface="Arial"/>
              <a:buChar char="•"/>
            </a:pPr>
            <a:r>
              <a:rPr b="0" i="0" lang="en-IN" sz="2400" u="none" cap="none" strike="noStrike">
                <a:solidFill>
                  <a:schemeClr val="dk1"/>
                </a:solidFill>
                <a:latin typeface="Cambria"/>
                <a:ea typeface="Cambria"/>
                <a:cs typeface="Cambria"/>
                <a:sym typeface="Cambria"/>
              </a:rPr>
              <a:t>This algorithm cleverly handles lists of different lengths by "re-routing" the pointers to the head of the other list once they reach the end of their own list. This ensures that both pointers will eventually traverse the same total distance before meeting at the intersection or at NULL. </a:t>
            </a:r>
            <a:endParaRPr b="0" i="0" sz="2400" u="none" cap="none" strike="noStrike">
              <a:solidFill>
                <a:schemeClr val="dk1"/>
              </a:solidFill>
              <a:latin typeface="Calibri"/>
              <a:ea typeface="Calibri"/>
              <a:cs typeface="Calibri"/>
              <a:sym typeface="Calibri"/>
            </a:endParaRPr>
          </a:p>
        </p:txBody>
      </p:sp>
      <p:sp>
        <p:nvSpPr>
          <p:cNvPr id="159" name="Google Shape;159;p10"/>
          <p:cNvSpPr/>
          <p:nvPr/>
        </p:nvSpPr>
        <p:spPr>
          <a:xfrm>
            <a:off x="9991440" y="0"/>
            <a:ext cx="2145240" cy="995760"/>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bf91eae8e3_3_0"/>
          <p:cNvSpPr txBox="1"/>
          <p:nvPr>
            <p:ph type="title"/>
          </p:nvPr>
        </p:nvSpPr>
        <p:spPr>
          <a:xfrm>
            <a:off x="838080" y="365040"/>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latin typeface="Cambria"/>
                <a:ea typeface="Cambria"/>
                <a:cs typeface="Cambria"/>
                <a:sym typeface="Cambria"/>
              </a:rPr>
              <a:t>Practice Questions:</a:t>
            </a:r>
            <a:endParaRPr/>
          </a:p>
        </p:txBody>
      </p:sp>
      <p:sp>
        <p:nvSpPr>
          <p:cNvPr id="165" name="Google Shape;165;g3bf91eae8e3_3_0"/>
          <p:cNvSpPr txBox="1"/>
          <p:nvPr>
            <p:ph idx="1" type="body"/>
          </p:nvPr>
        </p:nvSpPr>
        <p:spPr>
          <a:xfrm>
            <a:off x="838080" y="1825560"/>
            <a:ext cx="10515300" cy="435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1. Intersection of Two Linked Lists — LeetCode #160</a:t>
            </a:r>
            <a:endParaRPr b="1"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latin typeface="Cambria"/>
                <a:ea typeface="Cambria"/>
                <a:cs typeface="Cambria"/>
                <a:sym typeface="Cambria"/>
              </a:rPr>
              <a:t>🔗</a:t>
            </a:r>
            <a:r>
              <a:rPr lang="en-IN" sz="2400">
                <a:solidFill>
                  <a:schemeClr val="dk1"/>
                </a:solidFill>
                <a:uFill>
                  <a:noFill/>
                </a:uFill>
                <a:latin typeface="Cambria"/>
                <a:ea typeface="Cambria"/>
                <a:cs typeface="Cambria"/>
                <a:sym typeface="Cambria"/>
                <a:hlinkClick r:id="rId3">
                  <a:extLst>
                    <a:ext uri="{A12FA001-AC4F-418D-AE19-62706E023703}">
                      <ahyp:hlinkClr val="tx"/>
                    </a:ext>
                  </a:extLst>
                </a:hlinkClick>
              </a:rPr>
              <a:t> </a:t>
            </a:r>
            <a:r>
              <a:rPr lang="en-IN" sz="2400" u="sng">
                <a:solidFill>
                  <a:schemeClr val="hlink"/>
                </a:solidFill>
                <a:latin typeface="Cambria"/>
                <a:ea typeface="Cambria"/>
                <a:cs typeface="Cambria"/>
                <a:sym typeface="Cambria"/>
                <a:hlinkClick r:id="rId4"/>
              </a:rPr>
              <a:t>https://leetcode.com/problems/intersection-of-two-linked-lists/</a:t>
            </a:r>
            <a:endParaRPr sz="2400" u="sng">
              <a:solidFill>
                <a:schemeClr val="hlink"/>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Concept:</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Finding the </a:t>
            </a:r>
            <a:r>
              <a:rPr b="1" lang="en-IN" sz="2400">
                <a:solidFill>
                  <a:schemeClr val="dk1"/>
                </a:solidFill>
                <a:latin typeface="Cambria"/>
                <a:ea typeface="Cambria"/>
                <a:cs typeface="Cambria"/>
                <a:sym typeface="Cambria"/>
              </a:rPr>
              <a:t>merge point (intersection node)</a:t>
            </a:r>
            <a:r>
              <a:rPr lang="en-IN" sz="2400">
                <a:solidFill>
                  <a:schemeClr val="dk1"/>
                </a:solidFill>
                <a:latin typeface="Cambria"/>
                <a:ea typeface="Cambria"/>
                <a:cs typeface="Cambria"/>
                <a:sym typeface="Cambria"/>
              </a:rPr>
              <a:t> of two singly linked lists.</a:t>
            </a:r>
            <a:endParaRPr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Why Practice:</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Core problem for understanding </a:t>
            </a:r>
            <a:r>
              <a:rPr b="1" lang="en-IN" sz="2400">
                <a:solidFill>
                  <a:schemeClr val="dk1"/>
                </a:solidFill>
                <a:latin typeface="Cambria"/>
                <a:ea typeface="Cambria"/>
                <a:cs typeface="Cambria"/>
                <a:sym typeface="Cambria"/>
              </a:rPr>
              <a:t>pointer traversal</a:t>
            </a:r>
            <a:r>
              <a:rPr lang="en-IN" sz="2400">
                <a:solidFill>
                  <a:schemeClr val="dk1"/>
                </a:solidFill>
                <a:latin typeface="Cambria"/>
                <a:ea typeface="Cambria"/>
                <a:cs typeface="Cambria"/>
                <a:sym typeface="Cambria"/>
              </a:rPr>
              <a:t> and linked list merging logic.</a:t>
            </a:r>
            <a:endParaRPr sz="2400">
              <a:solidFill>
                <a:schemeClr val="dk1"/>
              </a:solidFill>
              <a:latin typeface="Cambria"/>
              <a:ea typeface="Cambria"/>
              <a:cs typeface="Cambria"/>
              <a:sym typeface="Cambria"/>
            </a:endParaRPr>
          </a:p>
          <a:p>
            <a:pPr indent="0" lvl="0" marL="0" rtl="0" algn="l">
              <a:lnSpc>
                <a:spcPct val="90000"/>
              </a:lnSpc>
              <a:spcBef>
                <a:spcPts val="1200"/>
              </a:spcBef>
              <a:spcAft>
                <a:spcPts val="0"/>
              </a:spcAft>
              <a:buClr>
                <a:schemeClr val="dk1"/>
              </a:buClr>
              <a:buSzPts val="2400"/>
              <a:buNone/>
            </a:pPr>
            <a:r>
              <a:t/>
            </a:r>
            <a:endParaRPr sz="2400">
              <a:latin typeface="Cambria"/>
              <a:ea typeface="Cambria"/>
              <a:cs typeface="Cambria"/>
              <a:sym typeface="Cambria"/>
            </a:endParaRPr>
          </a:p>
        </p:txBody>
      </p:sp>
      <p:sp>
        <p:nvSpPr>
          <p:cNvPr id="166" name="Google Shape;166;g3bf91eae8e3_3_0"/>
          <p:cNvSpPr/>
          <p:nvPr/>
        </p:nvSpPr>
        <p:spPr>
          <a:xfrm>
            <a:off x="9991482" y="4"/>
            <a:ext cx="2144801" cy="995524"/>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bf91eae8e3_3_89"/>
          <p:cNvSpPr txBox="1"/>
          <p:nvPr>
            <p:ph type="title"/>
          </p:nvPr>
        </p:nvSpPr>
        <p:spPr>
          <a:xfrm>
            <a:off x="838080" y="365040"/>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latin typeface="Cambria"/>
                <a:ea typeface="Cambria"/>
                <a:cs typeface="Cambria"/>
                <a:sym typeface="Cambria"/>
              </a:rPr>
              <a:t>Practice Questions:</a:t>
            </a:r>
            <a:endParaRPr/>
          </a:p>
        </p:txBody>
      </p:sp>
      <p:sp>
        <p:nvSpPr>
          <p:cNvPr id="172" name="Google Shape;172;g3bf91eae8e3_3_89"/>
          <p:cNvSpPr txBox="1"/>
          <p:nvPr>
            <p:ph idx="1" type="body"/>
          </p:nvPr>
        </p:nvSpPr>
        <p:spPr>
          <a:xfrm>
            <a:off x="838080" y="1825560"/>
            <a:ext cx="10515300" cy="435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2. Reverse Linked List — LeetCode #206</a:t>
            </a:r>
            <a:endParaRPr b="1"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latin typeface="Cambria"/>
                <a:ea typeface="Cambria"/>
                <a:cs typeface="Cambria"/>
                <a:sym typeface="Cambria"/>
              </a:rPr>
              <a:t>🔗</a:t>
            </a:r>
            <a:r>
              <a:rPr lang="en-IN" sz="2400">
                <a:solidFill>
                  <a:schemeClr val="dk1"/>
                </a:solidFill>
                <a:uFill>
                  <a:noFill/>
                </a:uFill>
                <a:latin typeface="Cambria"/>
                <a:ea typeface="Cambria"/>
                <a:cs typeface="Cambria"/>
                <a:sym typeface="Cambria"/>
                <a:hlinkClick r:id="rId3">
                  <a:extLst>
                    <a:ext uri="{A12FA001-AC4F-418D-AE19-62706E023703}">
                      <ahyp:hlinkClr val="tx"/>
                    </a:ext>
                  </a:extLst>
                </a:hlinkClick>
              </a:rPr>
              <a:t> </a:t>
            </a:r>
            <a:r>
              <a:rPr lang="en-IN" sz="2400" u="sng">
                <a:solidFill>
                  <a:schemeClr val="hlink"/>
                </a:solidFill>
                <a:latin typeface="Cambria"/>
                <a:ea typeface="Cambria"/>
                <a:cs typeface="Cambria"/>
                <a:sym typeface="Cambria"/>
                <a:hlinkClick r:id="rId4"/>
              </a:rPr>
              <a:t>https://leetcode.com/problems/reverse-linked-list/</a:t>
            </a:r>
            <a:endParaRPr sz="2400" u="sng">
              <a:solidFill>
                <a:schemeClr val="hlink"/>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Concept:</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Reversing a singly linked list using </a:t>
            </a:r>
            <a:r>
              <a:rPr b="1" lang="en-IN" sz="2400">
                <a:solidFill>
                  <a:schemeClr val="dk1"/>
                </a:solidFill>
                <a:latin typeface="Cambria"/>
                <a:ea typeface="Cambria"/>
                <a:cs typeface="Cambria"/>
                <a:sym typeface="Cambria"/>
              </a:rPr>
              <a:t>iterative or recursive pointer manipulation</a:t>
            </a:r>
            <a:r>
              <a:rPr lang="en-IN" sz="2400">
                <a:solidFill>
                  <a:schemeClr val="dk1"/>
                </a:solidFill>
                <a:latin typeface="Cambria"/>
                <a:ea typeface="Cambria"/>
                <a:cs typeface="Cambria"/>
                <a:sym typeface="Cambria"/>
              </a:rPr>
              <a:t>.</a:t>
            </a:r>
            <a:endParaRPr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Why Practice:</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Builds strong fundamentals of </a:t>
            </a:r>
            <a:r>
              <a:rPr b="1" lang="en-IN" sz="2400">
                <a:solidFill>
                  <a:schemeClr val="dk1"/>
                </a:solidFill>
                <a:latin typeface="Cambria"/>
                <a:ea typeface="Cambria"/>
                <a:cs typeface="Cambria"/>
                <a:sym typeface="Cambria"/>
              </a:rPr>
              <a:t>pointer handling</a:t>
            </a:r>
            <a:r>
              <a:rPr lang="en-IN" sz="2400">
                <a:solidFill>
                  <a:schemeClr val="dk1"/>
                </a:solidFill>
                <a:latin typeface="Cambria"/>
                <a:ea typeface="Cambria"/>
                <a:cs typeface="Cambria"/>
                <a:sym typeface="Cambria"/>
              </a:rPr>
              <a:t> and linked list traversal.</a:t>
            </a:r>
            <a:endParaRPr sz="2400">
              <a:solidFill>
                <a:schemeClr val="dk1"/>
              </a:solidFill>
              <a:latin typeface="Cambria"/>
              <a:ea typeface="Cambria"/>
              <a:cs typeface="Cambria"/>
              <a:sym typeface="Cambria"/>
            </a:endParaRPr>
          </a:p>
          <a:p>
            <a:pPr indent="0" lvl="0" marL="0" rtl="0" algn="l">
              <a:lnSpc>
                <a:spcPct val="90000"/>
              </a:lnSpc>
              <a:spcBef>
                <a:spcPts val="1200"/>
              </a:spcBef>
              <a:spcAft>
                <a:spcPts val="0"/>
              </a:spcAft>
              <a:buClr>
                <a:schemeClr val="dk1"/>
              </a:buClr>
              <a:buSzPts val="2400"/>
              <a:buNone/>
            </a:pPr>
            <a:r>
              <a:t/>
            </a:r>
            <a:endParaRPr b="1" sz="2400">
              <a:solidFill>
                <a:schemeClr val="dk1"/>
              </a:solidFill>
              <a:latin typeface="Cambria"/>
              <a:ea typeface="Cambria"/>
              <a:cs typeface="Cambria"/>
              <a:sym typeface="Cambria"/>
            </a:endParaRPr>
          </a:p>
        </p:txBody>
      </p:sp>
      <p:sp>
        <p:nvSpPr>
          <p:cNvPr id="173" name="Google Shape;173;g3bf91eae8e3_3_89"/>
          <p:cNvSpPr/>
          <p:nvPr/>
        </p:nvSpPr>
        <p:spPr>
          <a:xfrm>
            <a:off x="9991482" y="4"/>
            <a:ext cx="2144801" cy="995524"/>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bf91eae8e3_3_96"/>
          <p:cNvSpPr txBox="1"/>
          <p:nvPr>
            <p:ph type="title"/>
          </p:nvPr>
        </p:nvSpPr>
        <p:spPr>
          <a:xfrm>
            <a:off x="838080" y="365040"/>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latin typeface="Cambria"/>
                <a:ea typeface="Cambria"/>
                <a:cs typeface="Cambria"/>
                <a:sym typeface="Cambria"/>
              </a:rPr>
              <a:t>Practice Questions:</a:t>
            </a:r>
            <a:endParaRPr/>
          </a:p>
        </p:txBody>
      </p:sp>
      <p:sp>
        <p:nvSpPr>
          <p:cNvPr id="179" name="Google Shape;179;g3bf91eae8e3_3_96"/>
          <p:cNvSpPr txBox="1"/>
          <p:nvPr>
            <p:ph idx="1" type="body"/>
          </p:nvPr>
        </p:nvSpPr>
        <p:spPr>
          <a:xfrm>
            <a:off x="838080" y="1825560"/>
            <a:ext cx="10515300" cy="435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3. Linked List Cycle — LeetCode #141</a:t>
            </a:r>
            <a:endParaRPr b="1"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latin typeface="Cambria"/>
                <a:ea typeface="Cambria"/>
                <a:cs typeface="Cambria"/>
                <a:sym typeface="Cambria"/>
              </a:rPr>
              <a:t>🔗</a:t>
            </a:r>
            <a:r>
              <a:rPr lang="en-IN" sz="2400">
                <a:solidFill>
                  <a:schemeClr val="dk1"/>
                </a:solidFill>
                <a:uFill>
                  <a:noFill/>
                </a:uFill>
                <a:latin typeface="Cambria"/>
                <a:ea typeface="Cambria"/>
                <a:cs typeface="Cambria"/>
                <a:sym typeface="Cambria"/>
                <a:hlinkClick r:id="rId3">
                  <a:extLst>
                    <a:ext uri="{A12FA001-AC4F-418D-AE19-62706E023703}">
                      <ahyp:hlinkClr val="tx"/>
                    </a:ext>
                  </a:extLst>
                </a:hlinkClick>
              </a:rPr>
              <a:t> </a:t>
            </a:r>
            <a:r>
              <a:rPr lang="en-IN" sz="2400" u="sng">
                <a:solidFill>
                  <a:schemeClr val="hlink"/>
                </a:solidFill>
                <a:latin typeface="Cambria"/>
                <a:ea typeface="Cambria"/>
                <a:cs typeface="Cambria"/>
                <a:sym typeface="Cambria"/>
                <a:hlinkClick r:id="rId4"/>
              </a:rPr>
              <a:t>https://leetcode.com/problems/linked-list-cycle/</a:t>
            </a:r>
            <a:endParaRPr sz="2400" u="sng">
              <a:solidFill>
                <a:schemeClr val="hlink"/>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Concept:</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Detects whether a linked list contains a </a:t>
            </a:r>
            <a:r>
              <a:rPr b="1" lang="en-IN" sz="2400">
                <a:solidFill>
                  <a:schemeClr val="dk1"/>
                </a:solidFill>
                <a:latin typeface="Cambria"/>
                <a:ea typeface="Cambria"/>
                <a:cs typeface="Cambria"/>
                <a:sym typeface="Cambria"/>
              </a:rPr>
              <a:t>cycle</a:t>
            </a:r>
            <a:r>
              <a:rPr lang="en-IN" sz="2400">
                <a:solidFill>
                  <a:schemeClr val="dk1"/>
                </a:solidFill>
                <a:latin typeface="Cambria"/>
                <a:ea typeface="Cambria"/>
                <a:cs typeface="Cambria"/>
                <a:sym typeface="Cambria"/>
              </a:rPr>
              <a:t> using the </a:t>
            </a:r>
            <a:r>
              <a:rPr b="1" lang="en-IN" sz="2400">
                <a:solidFill>
                  <a:schemeClr val="dk1"/>
                </a:solidFill>
                <a:latin typeface="Cambria"/>
                <a:ea typeface="Cambria"/>
                <a:cs typeface="Cambria"/>
                <a:sym typeface="Cambria"/>
              </a:rPr>
              <a:t>fast and slow pointer (Floyd’s Cycle Detection)</a:t>
            </a:r>
            <a:r>
              <a:rPr lang="en-IN" sz="2400">
                <a:solidFill>
                  <a:schemeClr val="dk1"/>
                </a:solidFill>
                <a:latin typeface="Cambria"/>
                <a:ea typeface="Cambria"/>
                <a:cs typeface="Cambria"/>
                <a:sym typeface="Cambria"/>
              </a:rPr>
              <a:t> technique.</a:t>
            </a:r>
            <a:endParaRPr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Why Practice:</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Helps understand </a:t>
            </a:r>
            <a:r>
              <a:rPr b="1" lang="en-IN" sz="2400">
                <a:solidFill>
                  <a:schemeClr val="dk1"/>
                </a:solidFill>
                <a:latin typeface="Cambria"/>
                <a:ea typeface="Cambria"/>
                <a:cs typeface="Cambria"/>
                <a:sym typeface="Cambria"/>
              </a:rPr>
              <a:t>pointer movement</a:t>
            </a:r>
            <a:r>
              <a:rPr lang="en-IN" sz="2400">
                <a:solidFill>
                  <a:schemeClr val="dk1"/>
                </a:solidFill>
                <a:latin typeface="Cambria"/>
                <a:ea typeface="Cambria"/>
                <a:cs typeface="Cambria"/>
                <a:sym typeface="Cambria"/>
              </a:rPr>
              <a:t>, </a:t>
            </a:r>
            <a:r>
              <a:rPr b="1" lang="en-IN" sz="2400">
                <a:solidFill>
                  <a:schemeClr val="dk1"/>
                </a:solidFill>
                <a:latin typeface="Cambria"/>
                <a:ea typeface="Cambria"/>
                <a:cs typeface="Cambria"/>
                <a:sym typeface="Cambria"/>
              </a:rPr>
              <a:t>cycle detection</a:t>
            </a:r>
            <a:r>
              <a:rPr lang="en-IN" sz="2400">
                <a:solidFill>
                  <a:schemeClr val="dk1"/>
                </a:solidFill>
                <a:latin typeface="Cambria"/>
                <a:ea typeface="Cambria"/>
                <a:cs typeface="Cambria"/>
                <a:sym typeface="Cambria"/>
              </a:rPr>
              <a:t>, and efficient linked list traversal without extra space.</a:t>
            </a:r>
            <a:endParaRPr sz="2400">
              <a:solidFill>
                <a:schemeClr val="dk1"/>
              </a:solidFill>
              <a:latin typeface="Cambria"/>
              <a:ea typeface="Cambria"/>
              <a:cs typeface="Cambria"/>
              <a:sym typeface="Cambria"/>
            </a:endParaRPr>
          </a:p>
          <a:p>
            <a:pPr indent="0" lvl="0" marL="0" rtl="0" algn="l">
              <a:lnSpc>
                <a:spcPct val="90000"/>
              </a:lnSpc>
              <a:spcBef>
                <a:spcPts val="1200"/>
              </a:spcBef>
              <a:spcAft>
                <a:spcPts val="0"/>
              </a:spcAft>
              <a:buClr>
                <a:schemeClr val="dk1"/>
              </a:buClr>
              <a:buSzPts val="2400"/>
              <a:buNone/>
            </a:pPr>
            <a:r>
              <a:t/>
            </a:r>
            <a:endParaRPr b="1" sz="2400">
              <a:solidFill>
                <a:schemeClr val="dk1"/>
              </a:solidFill>
              <a:latin typeface="Cambria"/>
              <a:ea typeface="Cambria"/>
              <a:cs typeface="Cambria"/>
              <a:sym typeface="Cambria"/>
            </a:endParaRPr>
          </a:p>
        </p:txBody>
      </p:sp>
      <p:sp>
        <p:nvSpPr>
          <p:cNvPr id="180" name="Google Shape;180;g3bf91eae8e3_3_96"/>
          <p:cNvSpPr/>
          <p:nvPr/>
        </p:nvSpPr>
        <p:spPr>
          <a:xfrm>
            <a:off x="9991482" y="4"/>
            <a:ext cx="2144801" cy="995524"/>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bf91eae8e3_3_82"/>
          <p:cNvSpPr txBox="1"/>
          <p:nvPr>
            <p:ph type="title"/>
          </p:nvPr>
        </p:nvSpPr>
        <p:spPr>
          <a:xfrm>
            <a:off x="838080" y="365040"/>
            <a:ext cx="10515300" cy="1325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b="1" lang="en-IN" sz="4000">
                <a:latin typeface="Cambria"/>
                <a:ea typeface="Cambria"/>
                <a:cs typeface="Cambria"/>
                <a:sym typeface="Cambria"/>
              </a:rPr>
              <a:t>Practice Questions:</a:t>
            </a:r>
            <a:endParaRPr/>
          </a:p>
        </p:txBody>
      </p:sp>
      <p:sp>
        <p:nvSpPr>
          <p:cNvPr id="186" name="Google Shape;186;g3bf91eae8e3_3_82"/>
          <p:cNvSpPr txBox="1"/>
          <p:nvPr>
            <p:ph idx="1" type="body"/>
          </p:nvPr>
        </p:nvSpPr>
        <p:spPr>
          <a:xfrm>
            <a:off x="838080" y="1825560"/>
            <a:ext cx="10515300" cy="435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4. Linked List Cycle II — LeetCode #142</a:t>
            </a:r>
            <a:endParaRPr b="1"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latin typeface="Cambria"/>
                <a:ea typeface="Cambria"/>
                <a:cs typeface="Cambria"/>
                <a:sym typeface="Cambria"/>
              </a:rPr>
              <a:t>🔗</a:t>
            </a:r>
            <a:r>
              <a:rPr lang="en-IN" sz="2400">
                <a:solidFill>
                  <a:schemeClr val="dk1"/>
                </a:solidFill>
                <a:uFill>
                  <a:noFill/>
                </a:uFill>
                <a:latin typeface="Cambria"/>
                <a:ea typeface="Cambria"/>
                <a:cs typeface="Cambria"/>
                <a:sym typeface="Cambria"/>
                <a:hlinkClick r:id="rId3">
                  <a:extLst>
                    <a:ext uri="{A12FA001-AC4F-418D-AE19-62706E023703}">
                      <ahyp:hlinkClr val="tx"/>
                    </a:ext>
                  </a:extLst>
                </a:hlinkClick>
              </a:rPr>
              <a:t> </a:t>
            </a:r>
            <a:r>
              <a:rPr lang="en-IN" sz="2400" u="sng">
                <a:solidFill>
                  <a:schemeClr val="hlink"/>
                </a:solidFill>
                <a:latin typeface="Cambria"/>
                <a:ea typeface="Cambria"/>
                <a:cs typeface="Cambria"/>
                <a:sym typeface="Cambria"/>
                <a:hlinkClick r:id="rId4"/>
              </a:rPr>
              <a:t>https://leetcode.com/problems/linked-list-cycle-ii/</a:t>
            </a:r>
            <a:endParaRPr sz="2400" u="sng">
              <a:solidFill>
                <a:schemeClr val="hlink"/>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Concept:</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Detects the node where a cycle begins using </a:t>
            </a:r>
            <a:r>
              <a:rPr b="1" lang="en-IN" sz="2400">
                <a:solidFill>
                  <a:schemeClr val="dk1"/>
                </a:solidFill>
                <a:latin typeface="Cambria"/>
                <a:ea typeface="Cambria"/>
                <a:cs typeface="Cambria"/>
                <a:sym typeface="Cambria"/>
              </a:rPr>
              <a:t>two-pointer technique</a:t>
            </a:r>
            <a:r>
              <a:rPr lang="en-IN" sz="2400">
                <a:solidFill>
                  <a:schemeClr val="dk1"/>
                </a:solidFill>
                <a:latin typeface="Cambria"/>
                <a:ea typeface="Cambria"/>
                <a:cs typeface="Cambria"/>
                <a:sym typeface="Cambria"/>
              </a:rPr>
              <a:t>.</a:t>
            </a:r>
            <a:endParaRPr sz="24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mbria"/>
                <a:ea typeface="Cambria"/>
                <a:cs typeface="Cambria"/>
                <a:sym typeface="Cambria"/>
              </a:rPr>
              <a:t>Why Practice:</a:t>
            </a:r>
            <a:br>
              <a:rPr b="1" lang="en-IN" sz="2400">
                <a:solidFill>
                  <a:schemeClr val="dk1"/>
                </a:solidFill>
                <a:latin typeface="Cambria"/>
                <a:ea typeface="Cambria"/>
                <a:cs typeface="Cambria"/>
                <a:sym typeface="Cambria"/>
              </a:rPr>
            </a:br>
            <a:r>
              <a:rPr lang="en-IN" sz="2400">
                <a:solidFill>
                  <a:schemeClr val="dk1"/>
                </a:solidFill>
                <a:latin typeface="Cambria"/>
                <a:ea typeface="Cambria"/>
                <a:cs typeface="Cambria"/>
                <a:sym typeface="Cambria"/>
              </a:rPr>
              <a:t>Uses logic similar to </a:t>
            </a:r>
            <a:r>
              <a:rPr b="1" lang="en-IN" sz="2400">
                <a:solidFill>
                  <a:schemeClr val="dk1"/>
                </a:solidFill>
                <a:latin typeface="Cambria"/>
                <a:ea typeface="Cambria"/>
                <a:cs typeface="Cambria"/>
                <a:sym typeface="Cambria"/>
              </a:rPr>
              <a:t>finding meeting / merge points</a:t>
            </a:r>
            <a:r>
              <a:rPr lang="en-IN" sz="2400">
                <a:solidFill>
                  <a:schemeClr val="dk1"/>
                </a:solidFill>
                <a:latin typeface="Cambria"/>
                <a:ea typeface="Cambria"/>
                <a:cs typeface="Cambria"/>
                <a:sym typeface="Cambria"/>
              </a:rPr>
              <a:t> in linked lists.</a:t>
            </a:r>
            <a:endParaRPr sz="2400">
              <a:solidFill>
                <a:schemeClr val="dk1"/>
              </a:solidFill>
              <a:latin typeface="Cambria"/>
              <a:ea typeface="Cambria"/>
              <a:cs typeface="Cambria"/>
              <a:sym typeface="Cambria"/>
            </a:endParaRPr>
          </a:p>
          <a:p>
            <a:pPr indent="0" lvl="0" marL="0" rtl="0" algn="l">
              <a:lnSpc>
                <a:spcPct val="90000"/>
              </a:lnSpc>
              <a:spcBef>
                <a:spcPts val="1200"/>
              </a:spcBef>
              <a:spcAft>
                <a:spcPts val="0"/>
              </a:spcAft>
              <a:buClr>
                <a:schemeClr val="dk1"/>
              </a:buClr>
              <a:buSzPts val="2400"/>
              <a:buNone/>
            </a:pPr>
            <a:r>
              <a:t/>
            </a:r>
            <a:endParaRPr b="1" sz="2400">
              <a:solidFill>
                <a:schemeClr val="dk1"/>
              </a:solidFill>
              <a:latin typeface="Cambria"/>
              <a:ea typeface="Cambria"/>
              <a:cs typeface="Cambria"/>
              <a:sym typeface="Cambria"/>
            </a:endParaRPr>
          </a:p>
        </p:txBody>
      </p:sp>
      <p:sp>
        <p:nvSpPr>
          <p:cNvPr id="187" name="Google Shape;187;g3bf91eae8e3_3_82"/>
          <p:cNvSpPr/>
          <p:nvPr/>
        </p:nvSpPr>
        <p:spPr>
          <a:xfrm>
            <a:off x="9991482" y="4"/>
            <a:ext cx="2144801" cy="995524"/>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1523880" y="2026800"/>
            <a:ext cx="9143640" cy="238716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7000"/>
              <a:buFont typeface="Cambria"/>
              <a:buNone/>
            </a:pPr>
            <a:r>
              <a:rPr b="1" lang="en-IN" sz="7000" u="none" strike="noStrike">
                <a:solidFill>
                  <a:schemeClr val="dk1"/>
                </a:solidFill>
                <a:latin typeface="Cambria"/>
                <a:ea typeface="Cambria"/>
                <a:cs typeface="Cambria"/>
                <a:sym typeface="Cambria"/>
              </a:rPr>
              <a:t>Thanks</a:t>
            </a:r>
            <a:endParaRPr b="0" sz="7000" u="none" strike="noStrike">
              <a:solidFill>
                <a:schemeClr val="dk1"/>
              </a:solidFill>
              <a:latin typeface="Calibri"/>
              <a:ea typeface="Calibri"/>
              <a:cs typeface="Calibri"/>
              <a:sym typeface="Calibri"/>
            </a:endParaRPr>
          </a:p>
        </p:txBody>
      </p:sp>
      <p:sp>
        <p:nvSpPr>
          <p:cNvPr id="193" name="Google Shape;193;p20"/>
          <p:cNvSpPr/>
          <p:nvPr/>
        </p:nvSpPr>
        <p:spPr>
          <a:xfrm>
            <a:off x="3070800" y="1514520"/>
            <a:ext cx="6050160" cy="1517400"/>
          </a:xfrm>
          <a:custGeom>
            <a:rect b="b" l="l" r="r" t="t"/>
            <a:pathLst>
              <a:path extrusionOk="0" h="1517789" w="6050518">
                <a:moveTo>
                  <a:pt x="0" y="0"/>
                </a:moveTo>
                <a:lnTo>
                  <a:pt x="6050518" y="0"/>
                </a:lnTo>
                <a:lnTo>
                  <a:pt x="6050518" y="1517788"/>
                </a:lnTo>
                <a:lnTo>
                  <a:pt x="0" y="1517788"/>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2025-10-28T09:21:51Z</dcterms:created>
  <dc:creator>Prakash K. P.</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18</vt:i4>
  </property>
</Properties>
</file>