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UO44HXsY7+BUwQ5OiktHXm13S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A66126-A747-4F90-BA1F-1EE8B10A2945}">
  <a:tblStyle styleId="{3AA66126-A747-4F90-BA1F-1EE8B10A294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e8f7b95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be8f7b9568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e8f7b956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g3be8f7b9568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leetcode.com/problems/symmetric-tree/" TargetMode="External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leetcode.com/problems/same-tree/" TargetMode="External"/><Relationship Id="rId4" Type="http://schemas.openxmlformats.org/officeDocument/2006/relationships/hyperlink" Target="https://leetcode.com/problems/same-tree/" TargetMode="External"/><Relationship Id="rId5" Type="http://schemas.openxmlformats.org/officeDocument/2006/relationships/hyperlink" Target="https://leetcode.com/problems/same-tree/" TargetMode="External"/><Relationship Id="rId6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leetcode.com/problems/subtree-of-another-tree/" TargetMode="External"/><Relationship Id="rId4" Type="http://schemas.openxmlformats.org/officeDocument/2006/relationships/hyperlink" Target="https://leetcode.com/problems/subtree-of-another-tree/" TargetMode="External"/><Relationship Id="rId5" Type="http://schemas.openxmlformats.org/officeDocument/2006/relationships/hyperlink" Target="https://leetcode.com/problems/subtree-of-another-tree/" TargetMode="External"/><Relationship Id="rId6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75846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lang="en-IN" sz="7000">
                <a:latin typeface="Cambria"/>
                <a:ea typeface="Cambria"/>
                <a:cs typeface="Cambria"/>
                <a:sym typeface="Cambria"/>
              </a:rPr>
              <a:t>Practical 16</a:t>
            </a:r>
            <a:endParaRPr sz="7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4198386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Write a program to verify and validate mirrored trees.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3070741" y="1514622"/>
            <a:ext cx="6050518" cy="1517789"/>
          </a:xfrm>
          <a:custGeom>
            <a:rect b="b" l="l" r="r" t="t"/>
            <a:pathLst>
              <a:path extrusionOk="0" h="1517789" w="6050518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642" l="0" r="0" t="-4634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" name="Google Shape;91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{3AA66126-A747-4F90-BA1F-1EE8B10A2945}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b="1" i="0" lang="en-IN" sz="2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2" name="Google Shape;92;p2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93" name="Google Shape;93;p2"/>
          <p:cNvGraphicFramePr/>
          <p:nvPr/>
        </p:nvGraphicFramePr>
        <p:xfrm>
          <a:off x="1461074" y="23436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{3AA66126-A747-4F90-BA1F-1EE8B10A2945}</a:tableStyleId>
              </a:tblPr>
              <a:tblGrid>
                <a:gridCol w="2865125"/>
                <a:gridCol w="6194325"/>
              </a:tblGrid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Verify and Validate if Two Binary Trees are Mirror of Each Other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" name="Google Shape;94;p2"/>
          <p:cNvGraphicFramePr/>
          <p:nvPr/>
        </p:nvGraphicFramePr>
        <p:xfrm>
          <a:off x="1471065" y="35952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{3AA66126-A747-4F90-BA1F-1EE8B10A2945}</a:tableStyleId>
              </a:tblPr>
              <a:tblGrid>
                <a:gridCol w="9039450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Understand</a:t>
                      </a: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the concept of mirror trees and structural symmetry in binary trees.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Learn</a:t>
                      </a: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how to compare two binary trees node-by-node recursively.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b="1"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Implement</a:t>
                      </a: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an efficient algorithm to verify if two trees are mirrors of each other.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6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b="1"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Analyze</a:t>
                      </a: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time and space complexity for recursive tree comparison.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IN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/>
          </a:p>
        </p:txBody>
      </p:sp>
      <p:sp>
        <p:nvSpPr>
          <p:cNvPr id="100" name="Google Shape;100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Given two binary trees, determine whether they are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mirror images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of each other or not.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Return true if both trees are mirror images; otherwise, return false.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None/>
            </a:pPr>
            <a:r>
              <a:rPr b="1" lang="en-IN" sz="4000"/>
              <a:t> </a:t>
            </a: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3"/>
          <p:cNvSpPr txBox="1"/>
          <p:nvPr>
            <p:ph idx="1" type="body"/>
          </p:nvPr>
        </p:nvSpPr>
        <p:spPr>
          <a:xfrm>
            <a:off x="1073092" y="1829306"/>
            <a:ext cx="10515600" cy="3046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Two binary trees are said to be </a:t>
            </a: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mirror images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of each other if: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Their </a:t>
            </a: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root nodes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have the same value, and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</a:t>
            </a: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left subtree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of one tree is a </a:t>
            </a: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mirror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of the </a:t>
            </a: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right subtree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of the other (and vice versa).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This property helps in understanding </a:t>
            </a: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tree symmetry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which is widely used in </a:t>
            </a: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graphics, structural analysis, and data reflection problems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3" name="Google Shape;113;p5"/>
          <p:cNvSpPr txBox="1"/>
          <p:nvPr>
            <p:ph idx="1" type="body"/>
          </p:nvPr>
        </p:nvSpPr>
        <p:spPr>
          <a:xfrm>
            <a:off x="787025" y="1879134"/>
            <a:ext cx="10515600" cy="4009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If both trees are empty → return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true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3810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If one is empty and the other isn’t → return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false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3810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If the root values are different → return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false.</a:t>
            </a:r>
            <a:endParaRPr/>
          </a:p>
          <a:p>
            <a:pPr indent="-3810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Recursively check: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         Left subtree of first tree ↔ Right subtree of second tree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         Right subtree of first tree ↔ Left subtree of second tree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76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5. Return true only if both checks are true.</a:t>
            </a:r>
            <a:endParaRPr b="1" sz="2400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21" name="Google Shape;12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2177" y="1744487"/>
            <a:ext cx="5067650" cy="306665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7"/>
          <p:cNvSpPr txBox="1"/>
          <p:nvPr/>
        </p:nvSpPr>
        <p:spPr>
          <a:xfrm>
            <a:off x="2365875" y="5083410"/>
            <a:ext cx="8050200" cy="129263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73239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Output: </a:t>
            </a:r>
            <a:r>
              <a:rPr b="0" i="0" lang="en-IN" sz="2400" u="none" cap="none" strike="noStrike">
                <a:solidFill>
                  <a:srgbClr val="273239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True</a:t>
            </a:r>
            <a:endParaRPr b="0" i="0" sz="2400" u="none" cap="none" strike="noStrike">
              <a:solidFill>
                <a:srgbClr val="273239"/>
              </a:solidFill>
              <a:highlight>
                <a:srgbClr val="F9F9F9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273239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Explanation: </a:t>
            </a:r>
            <a:r>
              <a:rPr b="0" i="1" lang="en-IN" sz="2400" u="none" cap="none" strike="noStrike">
                <a:solidFill>
                  <a:srgbClr val="000000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Both trees are mirror images of each other, so output is True</a:t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29" name="Google Shape;12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8015" y="1761688"/>
            <a:ext cx="8456101" cy="45803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5475" y="394283"/>
            <a:ext cx="7540686" cy="360726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9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9"/>
          <p:cNvSpPr txBox="1"/>
          <p:nvPr>
            <p:ph type="title"/>
          </p:nvPr>
        </p:nvSpPr>
        <p:spPr>
          <a:xfrm>
            <a:off x="838213" y="36098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Output :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37" name="Google Shape;13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59017" y="4935576"/>
            <a:ext cx="7272084" cy="132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sp>
        <p:nvSpPr>
          <p:cNvPr id="143" name="Google Shape;143;p13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144" name="Google Shape;144;p13"/>
          <p:cNvGraphicFramePr/>
          <p:nvPr/>
        </p:nvGraphicFramePr>
        <p:xfrm>
          <a:off x="684650" y="282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{3AA66126-A747-4F90-BA1F-1EE8B10A2945}</a:tableStyleId>
              </a:tblPr>
              <a:tblGrid>
                <a:gridCol w="1865200"/>
                <a:gridCol w="2009525"/>
                <a:gridCol w="1949900"/>
                <a:gridCol w="492332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Operation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Time Complexity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Space Complexity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Explanation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Mirror Check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O(h)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Every node is compared once; recursion depth = height of tree (h).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50" name="Google Shape;150;p14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14"/>
          <p:cNvSpPr txBox="1"/>
          <p:nvPr>
            <p:ph idx="1" type="body"/>
          </p:nvPr>
        </p:nvSpPr>
        <p:spPr>
          <a:xfrm>
            <a:off x="838200" y="2055809"/>
            <a:ext cx="10822577" cy="4154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Two trees are </a:t>
            </a: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mirrors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if their structures and node values are </a:t>
            </a: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symmetrically opposite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Recursive comparison ensures efficient and clean checking.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Time Complexity: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O(n)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Space Complexity: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O(h)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Widely applied in </a:t>
            </a: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UI rendering, data reflection, and symmetric tree validation problems</a:t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57" name="Google Shape;157;p16"/>
          <p:cNvSpPr txBox="1"/>
          <p:nvPr>
            <p:ph idx="1" type="body"/>
          </p:nvPr>
        </p:nvSpPr>
        <p:spPr>
          <a:xfrm>
            <a:off x="643600" y="1805150"/>
            <a:ext cx="1087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IN" sz="2200">
                <a:latin typeface="Cambria"/>
                <a:ea typeface="Cambria"/>
                <a:cs typeface="Cambria"/>
                <a:sym typeface="Cambria"/>
              </a:rPr>
              <a:t>1.  </a:t>
            </a:r>
            <a:r>
              <a:rPr b="1" lang="en-IN" sz="220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Symmetric Tree</a:t>
            </a:r>
            <a:r>
              <a:rPr b="1" lang="en-IN" sz="2200">
                <a:latin typeface="Cambria"/>
                <a:ea typeface="Cambria"/>
                <a:cs typeface="Cambria"/>
                <a:sym typeface="Cambria"/>
              </a:rPr>
              <a:t>— LeetCode #101</a:t>
            </a:r>
            <a:br>
              <a:rPr b="1" lang="en-IN" sz="22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20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en-IN" sz="2200"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i="1"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https://leetcode.com/problems/symmetric-tree/</a:t>
            </a:r>
            <a:endParaRPr i="1"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IN" sz="2200"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b="1" lang="en-IN" sz="22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Check whether a binary tree is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symmetric (mirror of itself)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using recursive or iterative methods.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IN" sz="2200">
                <a:latin typeface="Cambria"/>
                <a:ea typeface="Cambria"/>
                <a:cs typeface="Cambria"/>
                <a:sym typeface="Cambria"/>
              </a:rPr>
              <a:t>Why Practice:</a:t>
            </a:r>
            <a:endParaRPr b="1" sz="2200">
              <a:latin typeface="Cambria"/>
              <a:ea typeface="Cambria"/>
              <a:cs typeface="Cambria"/>
              <a:sym typeface="Cambr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Strengthens understanding of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recursive tree comparison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Builds logic for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mirror structure detection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and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balanced tree problems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 b="1" sz="2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e8f7b9568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64" name="Google Shape;164;g3be8f7b9568_0_0"/>
          <p:cNvSpPr txBox="1"/>
          <p:nvPr>
            <p:ph idx="1" type="body"/>
          </p:nvPr>
        </p:nvSpPr>
        <p:spPr>
          <a:xfrm>
            <a:off x="643600" y="1805150"/>
            <a:ext cx="1087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2. Same Tree — LeetCode #100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lang="en-IN" sz="2400">
                <a:uFill>
                  <a:noFill/>
                </a:uFill>
                <a:latin typeface="Cambria"/>
                <a:ea typeface="Cambria"/>
                <a:cs typeface="Cambria"/>
                <a:sym typeface="Cambria"/>
                <a:hlinkClick r:id="rId3"/>
              </a:rPr>
              <a:t> </a:t>
            </a:r>
            <a:r>
              <a:rPr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https://leetcode.com/problems/same-tree/</a:t>
            </a:r>
            <a:br>
              <a:rPr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5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Difficulty: Easy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Determine whether two binary trees are structurally identical and have the same node values.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Why Practice: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Strengthens node-by-node comparison logic.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Mirror checking is a variation of this with swapped subtree comparison.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5" name="Google Shape;165;g3be8f7b9568_0_0"/>
          <p:cNvSpPr/>
          <p:nvPr/>
        </p:nvSpPr>
        <p:spPr>
          <a:xfrm>
            <a:off x="9991482" y="4"/>
            <a:ext cx="2144801" cy="995524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e8f7b9568_0_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71" name="Google Shape;171;g3be8f7b9568_0_6"/>
          <p:cNvSpPr txBox="1"/>
          <p:nvPr>
            <p:ph idx="1" type="body"/>
          </p:nvPr>
        </p:nvSpPr>
        <p:spPr>
          <a:xfrm>
            <a:off x="643600" y="1805150"/>
            <a:ext cx="1087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3.  Subtree of Another Tree — LeetCode #572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lang="en-IN" sz="2400">
                <a:uFill>
                  <a:noFill/>
                </a:uFill>
                <a:latin typeface="Cambria"/>
                <a:ea typeface="Cambria"/>
                <a:cs typeface="Cambria"/>
                <a:sym typeface="Cambria"/>
                <a:hlinkClick r:id="rId3"/>
              </a:rPr>
              <a:t> </a:t>
            </a:r>
            <a:r>
              <a:rPr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https://leetcode.com/problems/subtree-of-another-tree/</a:t>
            </a:r>
            <a:br>
              <a:rPr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5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Difficulty: Easy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Check whether one binary tree exists as a subtree within another.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Why Practice: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Requires structural comparison of trees.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Improves understanding of recursive tree matching logic, similar to mirror verification.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2" name="Google Shape;172;g3be8f7b9568_0_6"/>
          <p:cNvSpPr/>
          <p:nvPr/>
        </p:nvSpPr>
        <p:spPr>
          <a:xfrm>
            <a:off x="9991482" y="4"/>
            <a:ext cx="2144801" cy="995524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b="1" lang="en-IN" sz="7000"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1" sz="7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3070741" y="1514622"/>
            <a:ext cx="6050518" cy="1517789"/>
          </a:xfrm>
          <a:custGeom>
            <a:rect b="b" l="l" r="r" t="t"/>
            <a:pathLst>
              <a:path extrusionOk="0" h="1517789" w="6050518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642" l="0" r="0" t="-4634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2025-10-28T09:21:51Z</dcterms:created>
  <dc:creator>Prakash K. P.</dc:creator>
</cp:coreProperties>
</file>