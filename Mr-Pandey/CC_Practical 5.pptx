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82IYeSbgI3U7WQUypHFg6E22L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74CF16-1494-43BC-82B3-AFB4E13DF852}">
  <a:tblStyle styleId="{B874CF16-1494-43BC-82B3-AFB4E13DF8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806BF8C-441D-453F-92AB-B45F3A5DCF4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000000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000000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de4ba015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9de4ba015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de4ba015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9de4ba015e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de4ba01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9de4ba015e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7568ece4d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96" name="Google Shape;196;g3b7568ece4d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7" name="Google Shape;197;g3b7568ece4d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b7568ece4d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b7568ece4d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00" name="Google Shape;200;g3b7568ece4d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be0f622a6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06" name="Google Shape;206;g3bbe0f622a6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7" name="Google Shape;207;g3bbe0f622a6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bbe0f622a6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bbe0f622a6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0" name="Google Shape;210;g3bbe0f622a6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leetcode.com/problems/basic-calculator-ii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leetcode.com/problems/implement-queue-using-stacks/" TargetMode="External"/><Relationship Id="rId5" Type="http://schemas.openxmlformats.org/officeDocument/2006/relationships/hyperlink" Target="https://leetcode.com/problems/implement-queue-using-stacks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hyperlink" Target="https://leetcode.com/problems/simplify-path/" TargetMode="External"/><Relationship Id="rId5" Type="http://schemas.openxmlformats.org/officeDocument/2006/relationships/hyperlink" Target="https://leetcode.com/problems/simplify-path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5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Infix to Postfix Conversion Using Shunting Yard Algorithm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1" l="0" r="0" t="-4633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{B874CF16-1494-43BC-82B3-AFB4E13DF852}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5108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{B874CF16-1494-43BC-82B3-AFB4E13DF852}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Infix to Postfix Conversion Using Shunting Yard Algorithm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{B874CF16-1494-43BC-82B3-AFB4E13DF852}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infix, prefix, and postfix notations and their role in expression evaluation.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the Shunting Yard Algorithm to convert infix to postfix using a stack for operators and a queue for output.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Handle operator precedence, associativity, and parentheses correctly.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Apply this to real-world scenarios like compiler design and competitive problems.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825625"/>
            <a:ext cx="10515600" cy="19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an infix expression, and convert it to postfix notation. Use a queue to implement the Shunting Yard Algorithm for expression conversion.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an infix expression (e.g., "A + B * C"), convert it to postfix (Reverse Polish Notation, e.g., "A B C * +") for easier evaluation without parentheses.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02" name="Google Shape;102;p3"/>
          <p:cNvGraphicFramePr/>
          <p:nvPr/>
        </p:nvGraphicFramePr>
        <p:xfrm>
          <a:off x="1067943" y="3824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{7806BF8C-441D-453F-92AB-B45F3A5DCF45}</a:tableStyleId>
              </a:tblPr>
              <a:tblGrid>
                <a:gridCol w="1822050"/>
                <a:gridCol w="3024150"/>
                <a:gridCol w="5209900"/>
              </a:tblGrid>
              <a:tr h="6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Input (Infix)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Output (Postfix)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43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+ B *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* 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* has higher precedence than +.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6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(A + B) *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+ C *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Parentheses group A + B first.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43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^ B ^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^ ^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^ is right-associative.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678900" y="2222700"/>
            <a:ext cx="10834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Infix Expression: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Operators appear between operands.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A + B * C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Harder for computers to evaluate due to precedence rules.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Postfix Expression (Reverse Polish Notation):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Operators come </a:t>
            </a:r>
            <a:r>
              <a:rPr b="0" i="1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after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operands.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A B C * +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Advantage: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 need for parentheses.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Evaluation becomes simpler using a stack.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de4ba015e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g39de4ba015e_0_4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g39de4ba015e_0_4"/>
          <p:cNvSpPr txBox="1"/>
          <p:nvPr/>
        </p:nvSpPr>
        <p:spPr>
          <a:xfrm>
            <a:off x="1062750" y="1805075"/>
            <a:ext cx="93978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Shunting Yard Algorithm: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→ For operators and parentheses.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Queue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→ For the final output (postfix form).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Prerequisites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Basic stack/queue operations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Understanding of operator precedence (e.g., * &gt; +) and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associativity (left/right).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5"/>
          <p:cNvSpPr txBox="1"/>
          <p:nvPr/>
        </p:nvSpPr>
        <p:spPr>
          <a:xfrm>
            <a:off x="1062750" y="1805075"/>
            <a:ext cx="93978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High-Level Approach</a:t>
            </a:r>
            <a:b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Scan input left-to-right.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 operands immediately to queue.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 '(' to stack; Pop until matching ')' for parens.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operators: Pop lower/equal precedence from stack to queue, then push current.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 end, pop all stack to queue.</a:t>
            </a:r>
            <a:endParaRPr b="1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de4ba015e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g39de4ba015e_0_12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g39de4ba015e_0_12"/>
          <p:cNvSpPr txBox="1"/>
          <p:nvPr/>
        </p:nvSpPr>
        <p:spPr>
          <a:xfrm>
            <a:off x="1062750" y="1805075"/>
            <a:ext cx="93978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Initialize an empty stack (for operators) and an empty queue (for output).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Read tokens (operands/operators/parentheses) from left to right.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operand → add to queue (output).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operator (op1) 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While there is an operator (op2) at the top of the stack with greater or equal precedence, pop op2 and add to queue.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 op1 onto the stack.</a:t>
            </a:r>
            <a:endParaRPr b="1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de4ba015e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6" name="Google Shape;136;g39de4ba015e_0_18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g39de4ba015e_0_18"/>
          <p:cNvSpPr txBox="1"/>
          <p:nvPr/>
        </p:nvSpPr>
        <p:spPr>
          <a:xfrm>
            <a:off x="1062750" y="1805075"/>
            <a:ext cx="93978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‘(’ → push to stack.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‘)’ → pop operators from stack to queue until ‘(’ is found; discard both parentheses.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After reading all tokens → pop all remaining operators from stack to queue.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Operator Precedence: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^ (highest), *, /, then +, -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44" name="Google Shape;144;p6"/>
          <p:cNvGraphicFramePr/>
          <p:nvPr/>
        </p:nvGraphicFramePr>
        <p:xfrm>
          <a:off x="626405" y="17094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{B874CF16-1494-43BC-82B3-AFB4E13DF852}</a:tableStyleId>
              </a:tblPr>
              <a:tblGrid>
                <a:gridCol w="1691200"/>
                <a:gridCol w="1975050"/>
                <a:gridCol w="2646975"/>
                <a:gridCol w="345755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Input Token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Stack (Operators)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Queue (Postfix Output)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*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 *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 *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End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* 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6"/>
          <p:cNvSpPr txBox="1"/>
          <p:nvPr/>
        </p:nvSpPr>
        <p:spPr>
          <a:xfrm>
            <a:off x="1173183" y="5323193"/>
            <a:ext cx="457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Final Output: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🟩 Postfix →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B C * +</a:t>
            </a:r>
            <a:endParaRPr b="1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2" name="Google Shape;1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5541" y="1690688"/>
            <a:ext cx="8379299" cy="4471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8" name="Google Shape;1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9575" y="1052181"/>
            <a:ext cx="10812384" cy="475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4" name="Google Shape;1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6232" y="2484844"/>
            <a:ext cx="9340762" cy="1713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991483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7"/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1848466" y="2202427"/>
            <a:ext cx="7747819" cy="1131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Infix: a+b*(c^d-e)^(f+g*h)-i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Postfix: abcd^e-fgh*+^*+i-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Complexity Analysis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1"/>
          <p:cNvSpPr txBox="1"/>
          <p:nvPr/>
        </p:nvSpPr>
        <p:spPr>
          <a:xfrm>
            <a:off x="1384955" y="2055809"/>
            <a:ext cx="7704000" cy="19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 Complexity: 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0" i="0" lang="en-IN" sz="2400" u="none" cap="none" strike="noStrike">
                <a:solidFill>
                  <a:srgbClr val="0038C4"/>
                </a:solidFill>
                <a:latin typeface="Cambria"/>
                <a:ea typeface="Cambria"/>
                <a:cs typeface="Cambria"/>
                <a:sym typeface="Cambria"/>
              </a:rPr>
              <a:t>O(n) 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— each token processed once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Complexity: 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0" i="0" lang="en-IN" sz="2400" u="none" cap="none" strike="noStrike">
                <a:solidFill>
                  <a:srgbClr val="0038C4"/>
                </a:solidFill>
                <a:latin typeface="Cambria"/>
                <a:ea typeface="Cambria"/>
                <a:cs typeface="Cambria"/>
                <a:sym typeface="Cambria"/>
              </a:rPr>
              <a:t>O(n)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	— for stack + queue</a:t>
            </a:r>
            <a:endParaRPr b="0" i="0" sz="2400" u="none" cap="none" strike="noStrike">
              <a:solidFill>
                <a:srgbClr val="0038C4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Variations &amp; Competitive Tips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2"/>
          <p:cNvSpPr txBox="1"/>
          <p:nvPr/>
        </p:nvSpPr>
        <p:spPr>
          <a:xfrm>
            <a:off x="1013550" y="2100375"/>
            <a:ext cx="9451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Easier Variation: No associativity (assume all left).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Harder: Add unary operators (e.g., -A); Handle variables/functions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Competitive Angle: LeetCode #159: Expression Add Operators; Codeforces problems on parsers.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Optimization: Use array for stack (faster in C++); Extend to full evaluator.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3"/>
          <p:cNvSpPr txBox="1"/>
          <p:nvPr/>
        </p:nvSpPr>
        <p:spPr>
          <a:xfrm>
            <a:off x="945396" y="1880094"/>
            <a:ext cx="9811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1.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Basic Calculator II — LeetCode #227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https://leetcode.com/problems/basic-calculator-ii/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Stack-based infix expression evaluation with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+ - * /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Reinforces understanding of operator precedence and stack evaluation.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7568ece4d_0_0"/>
          <p:cNvSpPr/>
          <p:nvPr/>
        </p:nvSpPr>
        <p:spPr>
          <a:xfrm>
            <a:off x="10105119" y="28956"/>
            <a:ext cx="2042668" cy="948119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g3b7568ece4d_0_0"/>
          <p:cNvSpPr txBox="1"/>
          <p:nvPr/>
        </p:nvSpPr>
        <p:spPr>
          <a:xfrm>
            <a:off x="959992" y="219103"/>
            <a:ext cx="10272000" cy="6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6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LeetCode 636 — Exclusive Time of Functions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IN" sz="2400" u="sng" cap="none" strike="noStrik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🔗 https://leetcode.com/problems/exclusive-time-of-functions/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2400" u="sng" cap="none" strike="noStrike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  <a:hlinkClick r:id="rId5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2400" u="none" cap="none" strike="noStrike">
                <a:solidFill>
                  <a:srgbClr val="002F74"/>
                </a:solidFill>
                <a:latin typeface="Cambria"/>
                <a:ea typeface="Cambria"/>
                <a:cs typeface="Cambria"/>
                <a:sym typeface="Cambria"/>
              </a:rPr>
              <a:t>Description: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You are given logs of function start and end times.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Use a stack to compute each function’s exclusive execution time.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2400" u="none" cap="none" strike="noStrike">
                <a:solidFill>
                  <a:srgbClr val="001C5D"/>
                </a:solidFill>
                <a:latin typeface="Cambria"/>
                <a:ea typeface="Cambria"/>
                <a:cs typeface="Cambria"/>
                <a:sym typeface="Cambria"/>
              </a:rPr>
              <a:t>Example Input:     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1C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2400" u="none" cap="none" strike="noStrike">
                <a:solidFill>
                  <a:srgbClr val="001C5D"/>
                </a:solidFill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[3,4]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be0f622a6_0_0"/>
          <p:cNvSpPr/>
          <p:nvPr/>
        </p:nvSpPr>
        <p:spPr>
          <a:xfrm>
            <a:off x="10105119" y="28956"/>
            <a:ext cx="2042668" cy="948119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g3bbe0f622a6_0_0"/>
          <p:cNvSpPr txBox="1"/>
          <p:nvPr/>
        </p:nvSpPr>
        <p:spPr>
          <a:xfrm>
            <a:off x="959992" y="219103"/>
            <a:ext cx="10272000" cy="59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66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 Simplify Path — LeetCode #71</a:t>
            </a:r>
            <a:endParaRPr b="1"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solidFill>
                  <a:schemeClr val="dk1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  <a:t>https://leetcode.com/problems/simplify-path/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Stack-based parsing of file path expressions using </a:t>
            </a:r>
            <a:r>
              <a:rPr lang="en-IN" sz="240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IN" sz="240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lang="en-IN" sz="2400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..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Strengthens understanding of </a:t>
            </a:r>
            <a:r>
              <a:rPr b="1"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stack-based expression reduction</a:t>
            </a:r>
            <a:r>
              <a:rPr lang="en-I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real-world parsing.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1" l="0" r="0" t="-4633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