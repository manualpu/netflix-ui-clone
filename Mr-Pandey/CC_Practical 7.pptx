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hPiLwBJ5x+SnqM2BQPooIlLlHf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126FBA-633D-42E0-BC27-3A472EC57493}">
  <a:tblStyle styleId="{3A126FBA-633D-42E0-BC27-3A472EC5749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D9C32BF-310B-4E73-99D6-6D80078AC28D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b2f4d3f15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ab2f4d3f15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b2f4d3f15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ab2f4d3f15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leetcode.com/problems/merge-two-sorted-lists/" TargetMode="External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leetcode.com/problems/merge-k-sorted-lists/" TargetMode="External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leetcode.com/problems/sort-list/" TargetMode="External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75846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lang="en-IN" sz="7000">
                <a:latin typeface="Cambria"/>
                <a:ea typeface="Cambria"/>
                <a:cs typeface="Cambria"/>
                <a:sym typeface="Cambria"/>
              </a:rPr>
              <a:t>Practical 7</a:t>
            </a:r>
            <a:endParaRPr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419838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Write a Program to Merge Two Sorted Linked Lists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3070741" y="1514622"/>
            <a:ext cx="6050518" cy="1517789"/>
          </a:xfrm>
          <a:custGeom>
            <a:rect b="b" l="l" r="r" t="t"/>
            <a:pathLst>
              <a:path extrusionOk="0" h="1517789" w="6050518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47" l="0" r="0" t="-4637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Google Shape;95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{3A126FBA-633D-42E0-BC27-3A472EC57493}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b="1" i="0" lang="en-IN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6" name="Google Shape;96;p2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graphicFrame>
        <p:nvGraphicFramePr>
          <p:cNvPr id="97" name="Google Shape;97;p2"/>
          <p:cNvGraphicFramePr/>
          <p:nvPr/>
        </p:nvGraphicFramePr>
        <p:xfrm>
          <a:off x="1553497" y="2251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{3A126FBA-633D-42E0-BC27-3A472EC57493}</a:tableStyleId>
              </a:tblPr>
              <a:tblGrid>
                <a:gridCol w="2835900"/>
                <a:gridCol w="6131125"/>
              </a:tblGrid>
              <a:tr h="357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3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solidFill>
                            <a:schemeClr val="accen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Write a Program to Merge Two Sorted Linked Lists</a:t>
                      </a:r>
                      <a:endParaRPr sz="1800" u="none" cap="none" strike="noStrike">
                        <a:solidFill>
                          <a:schemeClr val="accen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0070C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8" name="Google Shape;98;p2"/>
          <p:cNvGraphicFramePr/>
          <p:nvPr/>
        </p:nvGraphicFramePr>
        <p:xfrm>
          <a:off x="1553496" y="342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{3A126FBA-633D-42E0-BC27-3A472EC57493}</a:tableStyleId>
              </a:tblPr>
              <a:tblGrid>
                <a:gridCol w="8967025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merge two sorted linked lists into a single sorted list using pointer manipulation and efficient traversal.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b="0"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handle merging conditions when one or both linked lists become empty during the merge process.</a:t>
                      </a:r>
                      <a:endParaRPr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b="0"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construct two sorted linked lists for merging and initialize pointers to traverse them.</a:t>
                      </a:r>
                      <a:endParaRPr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b="0"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efficiently merge two sorted linked lists into a single sorted list in O(m + n) time using pointer comparison.</a:t>
                      </a:r>
                      <a:endParaRPr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9" name="Google Shape;99;p2"/>
          <p:cNvSpPr/>
          <p:nvPr/>
        </p:nvSpPr>
        <p:spPr>
          <a:xfrm>
            <a:off x="3230880" y="4523264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IN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05" name="Google Shape;10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Write a program to merge two sorted linked lists into one sorted linked list.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The program should maintain the sorted order after merging and efficiently traverse both lists.</a:t>
            </a:r>
            <a:endParaRPr/>
          </a:p>
          <a:p>
            <a:pPr indent="-3048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4572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Create two sorted linked lists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Initialize pointers for both lists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Compare and attach smaller node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Repeat until one list ends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Attach remaining nodes to merged list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2" name="Google Shape;112;p4"/>
          <p:cNvSpPr txBox="1"/>
          <p:nvPr>
            <p:ph idx="1" type="body"/>
          </p:nvPr>
        </p:nvSpPr>
        <p:spPr>
          <a:xfrm>
            <a:off x="838200" y="1690688"/>
            <a:ext cx="10515600" cy="448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A Linked List is a linear data structure where elements (nodes) are connected using pointers.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Each node consists of: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data: stores the element value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next: pointer to the next node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When two linked lists are sorted, we can merge them efficiently by comparing their nodes one by one and arranging them in increasing order — similar to the merge step in Merge Sort.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9" name="Google Shape;119;p5"/>
          <p:cNvSpPr txBox="1"/>
          <p:nvPr>
            <p:ph idx="1" type="body"/>
          </p:nvPr>
        </p:nvSpPr>
        <p:spPr>
          <a:xfrm>
            <a:off x="838200" y="1825625"/>
            <a:ext cx="10515600" cy="466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96391"/>
              </a:buClr>
              <a:buSzPct val="100000"/>
              <a:buNone/>
            </a:pPr>
            <a:r>
              <a:rPr b="1"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1. Initialize: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600">
                <a:latin typeface="Cambria"/>
                <a:ea typeface="Cambria"/>
                <a:cs typeface="Cambria"/>
                <a:sym typeface="Cambria"/>
              </a:rPr>
              <a:t>Create two sorted linked lists — list1 and list2.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600">
                <a:latin typeface="Cambria"/>
                <a:ea typeface="Cambria"/>
                <a:cs typeface="Cambria"/>
                <a:sym typeface="Cambria"/>
              </a:rPr>
              <a:t>Create a new pointer result (head of merged list).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ct val="100000"/>
              <a:buAutoNum type="arabicPeriod" startAt="2"/>
            </a:pPr>
            <a:r>
              <a:rPr b="1"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Compare Nodes: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br>
              <a:rPr lang="en-IN" sz="16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600">
                <a:latin typeface="Cambria"/>
                <a:ea typeface="Cambria"/>
                <a:cs typeface="Cambria"/>
                <a:sym typeface="Cambria"/>
              </a:rPr>
              <a:t>If both list1 and list2 are not empty: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600">
                <a:latin typeface="Cambria"/>
                <a:ea typeface="Cambria"/>
                <a:cs typeface="Cambria"/>
                <a:sym typeface="Cambria"/>
              </a:rPr>
              <a:t>If list1-&gt;data &lt;= list2-&gt;data,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600">
                <a:latin typeface="Cambria"/>
                <a:ea typeface="Cambria"/>
                <a:cs typeface="Cambria"/>
                <a:sym typeface="Cambria"/>
              </a:rPr>
              <a:t>Set result = list1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600">
                <a:latin typeface="Cambria"/>
                <a:ea typeface="Cambria"/>
                <a:cs typeface="Cambria"/>
                <a:sym typeface="Cambria"/>
              </a:rPr>
              <a:t>Move list1 = list1-&gt;next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600">
                <a:latin typeface="Cambria"/>
                <a:ea typeface="Cambria"/>
                <a:cs typeface="Cambria"/>
                <a:sym typeface="Cambria"/>
              </a:rPr>
              <a:t>Else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600">
                <a:latin typeface="Cambria"/>
                <a:ea typeface="Cambria"/>
                <a:cs typeface="Cambria"/>
                <a:sym typeface="Cambria"/>
              </a:rPr>
              <a:t>Set result = list2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600">
                <a:latin typeface="Cambria"/>
                <a:ea typeface="Cambria"/>
                <a:cs typeface="Cambria"/>
                <a:sym typeface="Cambria"/>
              </a:rPr>
              <a:t>Move list2 = list2-&gt;next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6391"/>
              </a:buClr>
              <a:buSzPts val="2600"/>
              <a:buNone/>
            </a:pPr>
            <a:r>
              <a:rPr b="1" lang="en-IN" sz="26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3. Repeat Comparison: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Continue comparing nodes and linking the smaller node to the merged list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until one of the lists becomes empty.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600"/>
              <a:buNone/>
            </a:pPr>
            <a:r>
              <a:rPr b="1" lang="en-IN" sz="26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4. Append Remaining Nodes: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If any nodes are left in 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list1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or 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list2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,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attach them directly to the end of the merged list.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600"/>
              <a:buNone/>
            </a:pPr>
            <a:r>
              <a:rPr b="1" lang="en-IN" sz="26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5. Return Result: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Return the head pointer of the merged sorted linked list.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/>
          <p:nvPr>
            <p:ph type="title"/>
          </p:nvPr>
        </p:nvSpPr>
        <p:spPr>
          <a:xfrm>
            <a:off x="967408" y="157317"/>
            <a:ext cx="10386392" cy="8386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3" name="Google Shape;133;p7"/>
          <p:cNvSpPr txBox="1"/>
          <p:nvPr>
            <p:ph idx="1" type="body"/>
          </p:nvPr>
        </p:nvSpPr>
        <p:spPr>
          <a:xfrm>
            <a:off x="796412" y="1153263"/>
            <a:ext cx="10557387" cy="1344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Example: </a:t>
            </a:r>
            <a:endParaRPr/>
          </a:p>
          <a:p>
            <a:pPr indent="0" lvl="5" marL="2286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List 1: 2 → 5 → 8</a:t>
            </a:r>
            <a:endParaRPr/>
          </a:p>
          <a:p>
            <a:pPr indent="0" lvl="5" marL="2286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List 2: </a:t>
            </a:r>
            <a:r>
              <a:rPr lang="en-IN" sz="2400"/>
              <a:t>1 → 3 → 7 → 9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graphicFrame>
        <p:nvGraphicFramePr>
          <p:cNvPr id="135" name="Google Shape;135;p7"/>
          <p:cNvGraphicFramePr/>
          <p:nvPr/>
        </p:nvGraphicFramePr>
        <p:xfrm>
          <a:off x="1071715" y="24030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{ED9C32BF-310B-4E73-99D6-6D80078AC28D}</a:tableStyleId>
              </a:tblPr>
              <a:tblGrid>
                <a:gridCol w="1308325"/>
                <a:gridCol w="1277550"/>
                <a:gridCol w="1681325"/>
                <a:gridCol w="1740300"/>
                <a:gridCol w="1700975"/>
                <a:gridCol w="2231925"/>
              </a:tblGrid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Step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List 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List 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comparison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Node Added to Merged List</a:t>
                      </a:r>
                      <a:endParaRPr b="1"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Merged List (</a:t>
                      </a:r>
                      <a:br>
                        <a:rPr b="1" lang="en-IN" sz="1800" u="none" cap="none" strike="noStrike"/>
                      </a:br>
                      <a:r>
                        <a:rPr b="1" lang="en-IN" sz="1800" u="none" cap="none" strike="noStrike"/>
                        <a:t>current state)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2 → 5 → 8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 → 3 → 7 → 9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2&gt;1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4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2 → 5 → 8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 3 → 7 → 9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2&lt;3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 → 2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4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5 → 8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3 → 7 → 9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5&gt;3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 → 2 → 3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4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5 → 8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7 → 9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5&lt;7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 → 2 → 3 →5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7 → 9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8&gt;7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 → 2 → 3 → 5 → 7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8&lt;9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 → 2 → 3 → 5 → 7 → 8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--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Only one node left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 → 2 → 3 → 5 → 7 → 8 → 9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pic>
        <p:nvPicPr>
          <p:cNvPr id="142" name="Google Shape;14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0800" y="1690688"/>
            <a:ext cx="7690499" cy="4862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b2f4d3f15_0_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8" name="Google Shape;148;g3ab2f4d3f15_0_1"/>
          <p:cNvSpPr/>
          <p:nvPr/>
        </p:nvSpPr>
        <p:spPr>
          <a:xfrm>
            <a:off x="9991482" y="4"/>
            <a:ext cx="2144801" cy="995524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49" name="Google Shape;149;g3ab2f4d3f15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5301" y="1669238"/>
            <a:ext cx="8761902" cy="4862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pic>
        <p:nvPicPr>
          <p:cNvPr id="155" name="Google Shape;155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9807" y="1289150"/>
            <a:ext cx="10553026" cy="287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b2f4d3f15_0_9"/>
          <p:cNvSpPr/>
          <p:nvPr/>
        </p:nvSpPr>
        <p:spPr>
          <a:xfrm>
            <a:off x="9991482" y="4"/>
            <a:ext cx="2144801" cy="995524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61" name="Google Shape;161;g3ab2f4d3f15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2650" y="1615175"/>
            <a:ext cx="8893100" cy="430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 txBox="1"/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Output :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9991483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10"/>
          <p:cNvSpPr/>
          <p:nvPr/>
        </p:nvSpPr>
        <p:spPr>
          <a:xfrm>
            <a:off x="1720646" y="2005782"/>
            <a:ext cx="8111613" cy="3156154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 txBox="1"/>
          <p:nvPr/>
        </p:nvSpPr>
        <p:spPr>
          <a:xfrm>
            <a:off x="1848466" y="2202427"/>
            <a:ext cx="774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Merged Sorted List: </a:t>
            </a:r>
            <a:r>
              <a:rPr lang="en-IN" sz="24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10 -&gt; 20 -&gt; 20 -&gt; 30 -&gt; 40 -&gt; 50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"/>
          <p:cNvSpPr txBox="1"/>
          <p:nvPr>
            <p:ph idx="1" type="body"/>
          </p:nvPr>
        </p:nvSpPr>
        <p:spPr>
          <a:xfrm>
            <a:off x="796412" y="1153263"/>
            <a:ext cx="10557387" cy="50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Example: </a:t>
            </a:r>
            <a:endParaRPr/>
          </a:p>
          <a:p>
            <a:pPr indent="0" lvl="4" marL="1828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List 1: 1 → 3 → 5 → 7  </a:t>
            </a:r>
            <a:endParaRPr/>
          </a:p>
          <a:p>
            <a:pPr indent="0" lvl="4" marL="1828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List 2: 2 → 4 → 6 → 8</a:t>
            </a:r>
            <a:endParaRPr/>
          </a:p>
        </p:txBody>
      </p:sp>
      <p:sp>
        <p:nvSpPr>
          <p:cNvPr id="175" name="Google Shape;175;p11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graphicFrame>
        <p:nvGraphicFramePr>
          <p:cNvPr id="176" name="Google Shape;176;p11"/>
          <p:cNvGraphicFramePr/>
          <p:nvPr/>
        </p:nvGraphicFramePr>
        <p:xfrm>
          <a:off x="967408" y="29509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{ED9C32BF-310B-4E73-99D6-6D80078AC28D}</a:tableStyleId>
              </a:tblPr>
              <a:tblGrid>
                <a:gridCol w="1284175"/>
                <a:gridCol w="1584050"/>
                <a:gridCol w="1575725"/>
                <a:gridCol w="1658225"/>
                <a:gridCol w="1658225"/>
                <a:gridCol w="199647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Step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List 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List 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comparison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Node Added to Merged List</a:t>
                      </a:r>
                      <a:endParaRPr b="1"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Merged List (</a:t>
                      </a:r>
                      <a:br>
                        <a:rPr b="1" lang="en-IN" sz="1800" u="none" cap="none" strike="noStrike"/>
                      </a:br>
                      <a:r>
                        <a:rPr b="1" lang="en-IN" sz="1800" u="none" cap="none" strike="noStrike"/>
                        <a:t>current state)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 → 3 → 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2 → 4 → 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1&lt;2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 3 → 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 4 → 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3&gt;2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 → 2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 3 → 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 4 → 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3&lt;4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 → 2 → 3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5&gt;4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 → 2 → 3 → 4 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5&lt;6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 → 2 → 3 → 4 → 5 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--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--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Only 6 left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 → 2 → 3 → 4 → 5 → 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77" name="Google Shape;177;p11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Example Walkthrough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graphicFrame>
        <p:nvGraphicFramePr>
          <p:cNvPr id="183" name="Google Shape;183;p12"/>
          <p:cNvGraphicFramePr/>
          <p:nvPr/>
        </p:nvGraphicFramePr>
        <p:xfrm>
          <a:off x="1043609" y="2232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{ED9C32BF-310B-4E73-99D6-6D80078AC28D}</a:tableStyleId>
              </a:tblPr>
              <a:tblGrid>
                <a:gridCol w="2981750"/>
                <a:gridCol w="1739350"/>
                <a:gridCol w="1888425"/>
                <a:gridCol w="331967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Operation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 Complexity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 Complexity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Why?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Merge Two Sorted Linked Lists (Iterative)</a:t>
                      </a:r>
                      <a:endParaRPr sz="22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O(m+n)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O(1)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Each node from both lists is compared and merged once.</a:t>
                      </a:r>
                      <a:endParaRPr sz="22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Merge Two Sorted Linked Lists (Recursive)</a:t>
                      </a:r>
                      <a:endParaRPr sz="22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O(m+n)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O(m+n)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libri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Recursive calls are made for each node until both lists are merged.</a:t>
                      </a:r>
                      <a:endParaRPr sz="22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84" name="Google Shape;184;p12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90" name="Google Shape;190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Merging two sorted linked lists efficiently combines both lists into a single sorted list using pointer comparison.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At each step, the smaller node is linked to the result list, ensuring order is maintained.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This operation runs in O(m + n) time and is fundamental in algorithms like Merge Sort, demonstrating efficient linked list manipulation.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97" name="Google Shape;19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It uses pointer manipulation to compare nodes from both lists and attaches the smaller one to the new list, continuing until all nodes are merged.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This method avoids using extra space and maintains the sorted order efficiently.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The algorithm runs in linear time O(m + n), making it optimal for large datasets.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It is widely used in merge sort, data merging applications, and linked list-based systems to maintain ordered data dynamically.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8" name="Google Shape;198;p14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204" name="Google Shape;204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1️⃣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Merge Two Sorted Lists — LeetCode #21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https://leetcode.com/problems/merge-two-sorted-lists/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Recursively or iteratively merge two sorted linked lists.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Directly matches the concept taught in this practical.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5" name="Google Shape;205;p15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211" name="Google Shape;211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2️⃣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Merge k Sorted Lists — LeetCode #23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https://leetcode.com/problems/merge-k-sorted-lists/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Merge multiple sorted lists using a priority queue.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Extends the same concept to handle multiple linked lists efficiently.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2" name="Google Shape;212;p16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218" name="Google Shape;218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3️⃣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Sort List — LeetCode #148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https://leetcode.com/problems/sort-list/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Apply merge sort algorithm on a linked list.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Builds upon merging logic to perform complete list sorting.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/>
          <p:cNvSpPr txBox="1"/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IN" sz="7000"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1"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3070741" y="1514622"/>
            <a:ext cx="6050518" cy="1517789"/>
          </a:xfrm>
          <a:custGeom>
            <a:rect b="b" l="l" r="r" t="t"/>
            <a:pathLst>
              <a:path extrusionOk="0" h="1517789" w="6050518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47" l="0" r="0" t="-4637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2025-10-28T09:21:51Z</dcterms:created>
  <dc:creator>Prakash K. P.</dc:creator>
</cp:coreProperties>
</file>