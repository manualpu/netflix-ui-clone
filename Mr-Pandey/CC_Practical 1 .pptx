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FCn5MBeDukI/qKeaMgMxBXwPI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71BAF5-87DF-4A8F-AB5D-1A64C1E87F09}">
  <a:tblStyle styleId="{3071BAF5-87DF-4A8F-AB5D-1A64C1E87F0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3230F996-2B69-4952-B268-2B36C30B83B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c57b9051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ac57b9051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leetcode.com/problems/daily-temperatures/" TargetMode="External"/><Relationship Id="rId4" Type="http://schemas.openxmlformats.org/officeDocument/2006/relationships/hyperlink" Target="https://leetcode.com/problems/daily-temperatures/" TargetMode="External"/><Relationship Id="rId5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758467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lang="en-IN" sz="7000">
                <a:latin typeface="Cambria"/>
                <a:ea typeface="Cambria"/>
                <a:cs typeface="Cambria"/>
                <a:sym typeface="Cambria"/>
              </a:rPr>
              <a:t>Practical 1</a:t>
            </a:r>
            <a:endParaRPr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419838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rPr lang="en-IN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Implementation of MINSTACK (Minimum Stack)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2" l="0" r="0" t="-4634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1" name="Google Shape;91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{3071BAF5-87DF-4A8F-AB5D-1A64C1E87F09}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2" name="Google Shape;92;p2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93" name="Google Shape;93;p2"/>
          <p:cNvGraphicFramePr/>
          <p:nvPr/>
        </p:nvGraphicFramePr>
        <p:xfrm>
          <a:off x="1461074" y="274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{3071BAF5-87DF-4A8F-AB5D-1A64C1E87F09}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Implementation of MINSTACK (Minimum Stack)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" name="Google Shape;94;p2"/>
          <p:cNvGraphicFramePr/>
          <p:nvPr/>
        </p:nvGraphicFramePr>
        <p:xfrm>
          <a:off x="1471065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{3071BAF5-87DF-4A8F-AB5D-1A64C1E87F09}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0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implement a stack supporting push, pop, top, display, and getMin operations.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0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handle overflow and underflow conditions.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construct a stack of N capacity.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To efficiently retrieve the minimum element in O(1) time using an auxiliary stack.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" name="Google Shape;95;p2"/>
          <p:cNvSpPr/>
          <p:nvPr/>
        </p:nvSpPr>
        <p:spPr>
          <a:xfrm>
            <a:off x="3230880" y="4523264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Write a program for implementing a MINSTACK which should support operations like push, pop, overflow, underflow, display.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1. Construct a stack of N-capacity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2. Push elements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3. Pop elements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4. Top element 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5. Retrieve the min element from the stack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A Stack follows the LIFO (Last In, First Out) principle.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Common operations:</a:t>
            </a:r>
            <a:endParaRPr/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Push: Insert element at top</a:t>
            </a:r>
            <a:endParaRPr/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Pop: Remove element from top</a:t>
            </a:r>
            <a:endParaRPr/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Peek / Top: View top element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Why MINSTACK?</a:t>
            </a:r>
            <a:endParaRPr/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A MinStack is an enhanced stack that also allows quick retrieval of the minimum element at any time.</a:t>
            </a:r>
            <a:endParaRPr/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Naively, finding the minimum requires O(n) scanning.</a:t>
            </a:r>
            <a:endParaRPr/>
          </a:p>
          <a:p>
            <a:pPr indent="-228600" lvl="1" marL="685800" rtl="0" algn="just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Using an auxiliary stack, we can track the minimum in O(1) time.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1. Initialize: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Create two stacks – mainStack and minStack.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2. Push(x):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Push x onto mainStack.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If minStack is empty or x &lt;= minStack.top(), push x onto minStack.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ct val="1000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3. Pop():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If mainStack is empty → Underflow.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Pop element from mainStack.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If popped element equals minStack.top(), also pop from minStack.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2" name="Google Shape;122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4. Top():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Return the top of mainStack if not empty.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5. GetMin():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Return top of minStack (it stores the minimum so far).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6. Display():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	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Print all elements of mainStack from top to bottom.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129" name="Google Shape;129;p7"/>
          <p:cNvGraphicFramePr/>
          <p:nvPr/>
        </p:nvGraphicFramePr>
        <p:xfrm>
          <a:off x="987285" y="29040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{3230F996-2B69-4952-B268-2B36C30B83BF}</a:tableStyleId>
              </a:tblPr>
              <a:tblGrid>
                <a:gridCol w="2038850"/>
                <a:gridCol w="2038850"/>
                <a:gridCol w="2038850"/>
                <a:gridCol w="2038850"/>
                <a:gridCol w="203885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Step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mainStack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minStack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Min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push(5)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push(2)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push(8)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[5,2,8]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pop()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getMin()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[5,2]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lang="en-IN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✅ 2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30" name="Google Shape;130;p7"/>
          <p:cNvSpPr txBox="1"/>
          <p:nvPr/>
        </p:nvSpPr>
        <p:spPr>
          <a:xfrm>
            <a:off x="887895" y="2047461"/>
            <a:ext cx="1000539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Let’s push → 5, 3, 7, 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8" name="Google Shape;13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314" y="1451113"/>
            <a:ext cx="8513168" cy="5138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4" name="Google Shape;14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9633" y="1107240"/>
            <a:ext cx="9650172" cy="5001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0" name="Google Shape;150;p11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11"/>
          <p:cNvSpPr/>
          <p:nvPr/>
        </p:nvSpPr>
        <p:spPr>
          <a:xfrm>
            <a:off x="1720645" y="2005781"/>
            <a:ext cx="8111613" cy="3156154"/>
          </a:xfrm>
          <a:prstGeom prst="rect">
            <a:avLst/>
          </a:prstGeom>
          <a:solidFill>
            <a:schemeClr val="dk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1"/>
          <p:cNvSpPr txBox="1"/>
          <p:nvPr/>
        </p:nvSpPr>
        <p:spPr>
          <a:xfrm>
            <a:off x="1848465" y="2202426"/>
            <a:ext cx="7747819" cy="1685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Current Min: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Top: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Current Min: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graphicFrame>
        <p:nvGraphicFramePr>
          <p:cNvPr id="158" name="Google Shape;158;p13"/>
          <p:cNvGraphicFramePr/>
          <p:nvPr/>
        </p:nvGraphicFramePr>
        <p:xfrm>
          <a:off x="1043609" y="2232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{3230F996-2B69-4952-B268-2B36C30B83BF}</a:tableStyleId>
              </a:tblPr>
              <a:tblGrid>
                <a:gridCol w="2981750"/>
                <a:gridCol w="1739350"/>
                <a:gridCol w="1888425"/>
                <a:gridCol w="331967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mbria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Why?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Push/Pop/Top/getMin</a:t>
                      </a:r>
                      <a:endParaRPr sz="22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O(1)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Constant access; Fixed arrays.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7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Display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-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Cambria"/>
                        <a:buNone/>
                      </a:pPr>
                      <a:r>
                        <a:rPr lang="en-IN" sz="22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Linear print.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159" name="Google Shape;159;p13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65" name="Google Shape;165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MinStack is an improved version of a normal stack that supports </a:t>
            </a:r>
            <a:r>
              <a:rPr lang="en-IN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push(), pop(), top(),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and </a:t>
            </a:r>
            <a:r>
              <a:rPr lang="en-IN" sz="2400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getMin() 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operations — all in O(1) time.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It uses two stacks: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            a. mainStack stores all elements.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              b. minStack tracks the minimum value at each level.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On push(), if the new element ≤ current minimum, it’s also pushed into minStack.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On pop(), if the popped element equals the top of minStack, both are popped.   getMin() simply returns the top of minStack, giving the minimum instantly.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72" name="Google Shape;172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This approach keeps all operations fast and efficient (O(1) time, O(n) space).</a:t>
            </a:r>
            <a:endParaRPr/>
          </a:p>
          <a:p>
            <a:pPr indent="-762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Advantage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No need to traverse the stack to find the minimum.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Use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Case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:  Ideal for real-time applications where frequent min lookups are required.</a:t>
            </a:r>
            <a:endParaRPr/>
          </a:p>
        </p:txBody>
      </p:sp>
      <p:sp>
        <p:nvSpPr>
          <p:cNvPr id="173" name="Google Shape;173;p15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79" name="Google Shape;17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1. Min Stack 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— </a:t>
            </a:r>
            <a:r>
              <a:rPr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#155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🔗 https://leetcode.com/problems/min-stack/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Concept: 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Implement a stack that supports push(), pop(), top(), and getMin() in O(1).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Same as our class example — perfect for reinforcement.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0" name="Google Shape;180;p16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86" name="Google Shape;186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2. Implement Queue using Stacks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— </a:t>
            </a:r>
            <a:r>
              <a:rPr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LeetCode #232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🔗 https://leetcode.com/problems/implement-queue-using-stacks/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Concept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: Implement a queue using one or two stacks.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rPr b="1" lang="en-IN">
                <a:solidFill>
                  <a:srgbClr val="196391"/>
                </a:solidFill>
                <a:latin typeface="Cambria"/>
                <a:ea typeface="Cambria"/>
                <a:cs typeface="Cambria"/>
                <a:sym typeface="Cambria"/>
              </a:rPr>
              <a:t>Why Practice: 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Strengthens your stack understanding by reversing the logic.</a:t>
            </a:r>
            <a:endParaRPr/>
          </a:p>
        </p:txBody>
      </p:sp>
      <p:sp>
        <p:nvSpPr>
          <p:cNvPr id="187" name="Google Shape;187;p17"/>
          <p:cNvSpPr/>
          <p:nvPr/>
        </p:nvSpPr>
        <p:spPr>
          <a:xfrm>
            <a:off x="9991482" y="4"/>
            <a:ext cx="2145711" cy="995946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c57b90514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93" name="Google Shape;193;g3ac57b90514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3. Daily Temperatures — LeetCode #739</a:t>
            </a:r>
            <a:endParaRPr b="1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🔗</a:t>
            </a:r>
            <a:r>
              <a:rPr lang="en-IN">
                <a:uFill>
                  <a:noFill/>
                </a:uFill>
                <a:latin typeface="Cambria"/>
                <a:ea typeface="Cambria"/>
                <a:cs typeface="Cambria"/>
                <a:sym typeface="Cambria"/>
                <a:hlinkClick r:id="rId3"/>
              </a:rPr>
              <a:t> </a:t>
            </a:r>
            <a:r>
              <a:rPr lang="en-IN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https://leetcode.com/problems/daily-temperatures/</a:t>
            </a:r>
            <a:endParaRPr u="sng">
              <a:solidFill>
                <a:schemeClr val="hlink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>
                <a:latin typeface="Cambria"/>
                <a:ea typeface="Cambria"/>
                <a:cs typeface="Cambria"/>
                <a:sym typeface="Cambria"/>
              </a:rPr>
            </a:br>
            <a:r>
              <a:rPr lang="en-IN">
                <a:latin typeface="Cambria"/>
                <a:ea typeface="Cambria"/>
                <a:cs typeface="Cambria"/>
                <a:sym typeface="Cambria"/>
              </a:rPr>
              <a:t> Use a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monotonic stack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to find how many days you must wait until a warmer temperature occurs for each day.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Why Practice:</a:t>
            </a:r>
            <a:br>
              <a:rPr b="1" lang="en-IN">
                <a:latin typeface="Cambria"/>
                <a:ea typeface="Cambria"/>
                <a:cs typeface="Cambria"/>
                <a:sym typeface="Cambria"/>
              </a:rPr>
            </a:br>
            <a:r>
              <a:rPr lang="en-IN">
                <a:latin typeface="Cambria"/>
                <a:ea typeface="Cambria"/>
                <a:cs typeface="Cambria"/>
                <a:sym typeface="Cambria"/>
              </a:rPr>
              <a:t> Directly reinforces the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Next Greater Element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pattern using stacks, but applied to temperatures instead of numbers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96391"/>
              </a:buClr>
              <a:buSzPts val="2800"/>
              <a:buNone/>
            </a:pPr>
            <a:r>
              <a:t/>
            </a: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4" name="Google Shape;194;g3ac57b90514_0_0"/>
          <p:cNvSpPr/>
          <p:nvPr/>
        </p:nvSpPr>
        <p:spPr>
          <a:xfrm>
            <a:off x="9991482" y="4"/>
            <a:ext cx="2144801" cy="995524"/>
          </a:xfrm>
          <a:custGeom>
            <a:rect b="b" l="l" r="r" t="t"/>
            <a:pathLst>
              <a:path extrusionOk="0" h="1896237" w="4085336">
                <a:moveTo>
                  <a:pt x="0" y="0"/>
                </a:moveTo>
                <a:lnTo>
                  <a:pt x="4085336" y="0"/>
                </a:lnTo>
                <a:lnTo>
                  <a:pt x="4085336" y="1896237"/>
                </a:lnTo>
                <a:lnTo>
                  <a:pt x="0" y="1896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3070741" y="1514622"/>
            <a:ext cx="6050518" cy="1517789"/>
          </a:xfrm>
          <a:custGeom>
            <a:rect b="b" l="l" r="r" t="t"/>
            <a:pathLst>
              <a:path extrusionOk="0" h="1517789" w="6050518">
                <a:moveTo>
                  <a:pt x="0" y="0"/>
                </a:moveTo>
                <a:lnTo>
                  <a:pt x="6050518" y="0"/>
                </a:lnTo>
                <a:lnTo>
                  <a:pt x="6050518" y="1517788"/>
                </a:lnTo>
                <a:lnTo>
                  <a:pt x="0" y="15177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42" l="0" r="0" t="-4634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