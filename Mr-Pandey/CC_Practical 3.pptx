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5r6QA0uIHQ3qtJekNQQEbkXqR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1DE89C-7BEB-430B-B2A8-0925712485BB}">
  <a:tblStyle styleId="{EB1DE89C-7BEB-430B-B2A8-0925712485B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5" name="Google Shape;17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f599085e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af599085e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leetcode.com/problems/next-greater-element-ii/" TargetMode="External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leetcode.com/problems/next-greater-element-iii/" TargetMode="External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leetcode.com/problems/next-greater-element-i/" TargetMode="External"/><Relationship Id="rId4" Type="http://schemas.openxmlformats.org/officeDocument/2006/relationships/hyperlink" Target="https://leetcode.com/problems/next-greater-element-i/" TargetMode="External"/><Relationship Id="rId5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75846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IN" sz="7000">
                <a:latin typeface="Cambria"/>
                <a:ea typeface="Cambria"/>
                <a:cs typeface="Cambria"/>
                <a:sym typeface="Cambria"/>
              </a:rPr>
              <a:t>Practical 3</a:t>
            </a:r>
            <a:endParaRPr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419838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Finding Next Greater Element (NGE)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3070741" y="1514622"/>
            <a:ext cx="6050518" cy="1517789"/>
          </a:xfrm>
          <a:custGeom>
            <a:rect b="b" l="l" r="r" t="t"/>
            <a:pathLst>
              <a:path extrusionOk="0" h="1517789" w="6050518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47" l="0" r="0" t="-4637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Google Shape;95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{EB1DE89C-7BEB-430B-B2A8-0925712485BB}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IN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6" name="Google Shape;96;p2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graphicFrame>
        <p:nvGraphicFramePr>
          <p:cNvPr id="97" name="Google Shape;97;p2"/>
          <p:cNvGraphicFramePr/>
          <p:nvPr/>
        </p:nvGraphicFramePr>
        <p:xfrm>
          <a:off x="1461074" y="25201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{EB1DE89C-7BEB-430B-B2A8-0925712485BB}</a:tableStyleId>
              </a:tblPr>
              <a:tblGrid>
                <a:gridCol w="2865125"/>
                <a:gridCol w="6194325"/>
              </a:tblGrid>
              <a:tr h="335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2E75B5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Finding Next Greater Element (NGE)</a:t>
                      </a:r>
                      <a:endParaRPr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8" name="Google Shape;98;p2"/>
          <p:cNvGraphicFramePr/>
          <p:nvPr/>
        </p:nvGraphicFramePr>
        <p:xfrm>
          <a:off x="1471065" y="33789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{EB1DE89C-7BEB-430B-B2A8-0925712485BB}</a:tableStyleId>
              </a:tblPr>
              <a:tblGrid>
                <a:gridCol w="90394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understand the definition and importance of the Next Greater Element problem in programming and algorithm design.</a:t>
                      </a:r>
                      <a:endParaRPr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implement both brute force and efficient stack-based  code to solve for the Next Greater Element in a given array.</a:t>
                      </a:r>
                      <a:endParaRPr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analyse and compare the time and space complexity of brute force and stack-based approaches.</a:t>
                      </a:r>
                      <a:endParaRPr sz="18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b="0" i="0" lang="en-IN" sz="18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identify suitable scenarios in computer science or real-life where NGE solutions are applicable and efficient.</a:t>
                      </a:r>
                      <a:endParaRPr sz="18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9" name="Google Shape;99;p2"/>
          <p:cNvSpPr/>
          <p:nvPr/>
        </p:nvSpPr>
        <p:spPr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IN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05" name="Google Shape;10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Write a program for finding NGE NEXT GREATER ELEMENT from an array. 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Introduction to the Problem</a:t>
            </a:r>
            <a:endParaRPr/>
          </a:p>
        </p:txBody>
      </p:sp>
      <p:sp>
        <p:nvSpPr>
          <p:cNvPr id="112" name="Google Shape;112;p4"/>
          <p:cNvSpPr txBox="1"/>
          <p:nvPr>
            <p:ph idx="1" type="body"/>
          </p:nvPr>
        </p:nvSpPr>
        <p:spPr>
          <a:xfrm>
            <a:off x="838200" y="1690688"/>
            <a:ext cx="10515600" cy="44862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811" r="-868" t="-19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 </a:t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Concept and Background</a:t>
            </a:r>
            <a:endParaRPr b="1" sz="40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9" name="Google Shape;11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• The Next Greater Element problem is important in data structure learning.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• It is used in stock span problems, temperature predictions, and interval analysis. </a:t>
            </a:r>
            <a:endParaRPr/>
          </a:p>
          <a:p>
            <a:pPr indent="-22860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75B5"/>
              </a:buClr>
              <a:buSzPts val="2400"/>
              <a:buFont typeface="Noto Sans Symbols"/>
              <a:buChar char="❖"/>
            </a:pPr>
            <a:r>
              <a:rPr b="1" lang="en-IN" sz="2400">
                <a:solidFill>
                  <a:srgbClr val="2E75B5"/>
                </a:solidFill>
                <a:latin typeface="Cambria"/>
                <a:ea typeface="Cambria"/>
                <a:cs typeface="Cambria"/>
                <a:sym typeface="Cambria"/>
              </a:rPr>
              <a:t> There are mainly two ways to solve this problem: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• Naive approach or brute force method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• Stack-based approach</a:t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 </a:t>
            </a:r>
            <a:endParaRPr/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838200" y="1690689"/>
            <a:ext cx="10515600" cy="4661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400"/>
              <a:buNone/>
            </a:pPr>
            <a:r>
              <a:rPr b="1" lang="en-IN" sz="2400">
                <a:solidFill>
                  <a:srgbClr val="2E75B5"/>
                </a:solidFill>
                <a:latin typeface="Cambria"/>
                <a:ea typeface="Cambria"/>
                <a:cs typeface="Cambria"/>
                <a:sym typeface="Cambria"/>
              </a:rPr>
              <a:t>Step 1: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Initialize an empty stack. Use it to keep track of potential "next greater" candidates.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E75B5"/>
              </a:buClr>
              <a:buSzPts val="2400"/>
              <a:buNone/>
            </a:pPr>
            <a:r>
              <a:rPr b="1" lang="en-IN" sz="2400">
                <a:solidFill>
                  <a:srgbClr val="2E75B5"/>
                </a:solidFill>
                <a:latin typeface="Cambria"/>
                <a:ea typeface="Cambria"/>
                <a:cs typeface="Cambria"/>
                <a:sym typeface="Cambria"/>
              </a:rPr>
              <a:t>Step 2: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Traverse the array from right to left.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E75B5"/>
              </a:buClr>
              <a:buSzPts val="2400"/>
              <a:buNone/>
            </a:pPr>
            <a:r>
              <a:rPr b="1" lang="en-IN" sz="2400">
                <a:solidFill>
                  <a:srgbClr val="2E75B5"/>
                </a:solidFill>
                <a:latin typeface="Cambria"/>
                <a:ea typeface="Cambria"/>
                <a:cs typeface="Cambria"/>
                <a:sym typeface="Cambria"/>
              </a:rPr>
              <a:t>Step 3: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While stack is not empty and top ≤ current element, pop the stack.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E75B5"/>
              </a:buClr>
              <a:buSzPts val="2400"/>
              <a:buNone/>
            </a:pPr>
            <a:r>
              <a:rPr b="1" lang="en-IN" sz="2400">
                <a:solidFill>
                  <a:srgbClr val="2E75B5"/>
                </a:solidFill>
                <a:latin typeface="Cambria"/>
                <a:ea typeface="Cambria"/>
                <a:cs typeface="Cambria"/>
                <a:sym typeface="Cambria"/>
              </a:rPr>
              <a:t>Step 4: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If stack is empty, NGE = -1; else NGE = top of stack.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E75B5"/>
              </a:buClr>
              <a:buSzPts val="2400"/>
              <a:buNone/>
            </a:pPr>
            <a:r>
              <a:rPr b="1" lang="en-IN" sz="2400">
                <a:solidFill>
                  <a:srgbClr val="2E75B5"/>
                </a:solidFill>
                <a:latin typeface="Cambria"/>
                <a:ea typeface="Cambria"/>
                <a:cs typeface="Cambria"/>
                <a:sym typeface="Cambria"/>
              </a:rPr>
              <a:t>Step 5: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Push the current element into the stack.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E75B5"/>
              </a:buClr>
              <a:buSzPts val="2400"/>
              <a:buNone/>
            </a:pPr>
            <a:r>
              <a:rPr b="1" lang="en-IN" sz="2400">
                <a:solidFill>
                  <a:srgbClr val="2E75B5"/>
                </a:solidFill>
                <a:latin typeface="Cambria"/>
                <a:ea typeface="Cambria"/>
                <a:cs typeface="Cambria"/>
                <a:sym typeface="Cambria"/>
              </a:rPr>
              <a:t>Step 6: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Continue until all elements are processed.</a:t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sp>
        <p:nvSpPr>
          <p:cNvPr id="133" name="Google Shape;133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838200" y="1436871"/>
            <a:ext cx="8165432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400"/>
              <a:buFont typeface="Noto Sans Symbols"/>
              <a:buChar char="❑"/>
            </a:pPr>
            <a:r>
              <a:rPr lang="en-IN" sz="2400">
                <a:solidFill>
                  <a:srgbClr val="2E75B5"/>
                </a:solidFill>
                <a:latin typeface="Cambria"/>
                <a:ea typeface="Cambria"/>
                <a:cs typeface="Cambria"/>
                <a:sym typeface="Cambria"/>
              </a:rPr>
              <a:t>Example:</a:t>
            </a:r>
            <a:b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Let’s try to find NGE for all the elements present in the given array : arr = [6][8][0][1][3]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400"/>
              <a:buFont typeface="Noto Sans Symbols"/>
              <a:buChar char="❑"/>
            </a:pPr>
            <a:r>
              <a:rPr lang="en-IN" sz="2400">
                <a:solidFill>
                  <a:srgbClr val="2E75B5"/>
                </a:solidFill>
                <a:latin typeface="Cambria"/>
                <a:ea typeface="Cambria"/>
                <a:cs typeface="Cambria"/>
                <a:sym typeface="Cambria"/>
              </a:rPr>
              <a:t>Step-by-Step Stack Approach</a:t>
            </a:r>
            <a:b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We process array elements from right to left and maintain a stack where the potential next greater elements are stored.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400"/>
              <a:buFont typeface="Noto Sans Symbols"/>
              <a:buChar char="❑"/>
            </a:pPr>
            <a:r>
              <a:rPr lang="en-IN" sz="2400">
                <a:solidFill>
                  <a:srgbClr val="2E75B5"/>
                </a:solidFill>
                <a:latin typeface="Cambria"/>
                <a:ea typeface="Cambria"/>
                <a:cs typeface="Cambria"/>
                <a:sym typeface="Cambria"/>
              </a:rPr>
              <a:t>Initialization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Stack: []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Result: [_, _, _, _, _]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sp>
        <p:nvSpPr>
          <p:cNvPr id="140" name="Google Shape;14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838200" y="1690688"/>
            <a:ext cx="395831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i="0"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(A) </a:t>
            </a:r>
            <a:r>
              <a:rPr b="0" i="0"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 = 4, value = 3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Stack is empty. So, NGE for 3 is -1.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Push 3 to stack.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Result: [_, _, _, _, -1]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Stack: [3]</a:t>
            </a:r>
            <a:endParaRPr/>
          </a:p>
        </p:txBody>
      </p:sp>
      <p:sp>
        <p:nvSpPr>
          <p:cNvPr id="142" name="Google Shape;142;p8"/>
          <p:cNvSpPr txBox="1"/>
          <p:nvPr/>
        </p:nvSpPr>
        <p:spPr>
          <a:xfrm>
            <a:off x="7025640" y="1690688"/>
            <a:ext cx="432816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i="0"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(B) </a:t>
            </a:r>
            <a:r>
              <a:rPr b="0" i="0"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 = 3, value = 1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Stack's top (3) &gt; 1, so NGE for 1 is 3.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Push 1 to stack.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Result: [_, _, _, 3, -1]</a:t>
            </a:r>
            <a:endParaRPr/>
          </a:p>
          <a:p>
            <a:pPr indent="-457200" lvl="0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Stack: [3][1]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sp>
        <p:nvSpPr>
          <p:cNvPr id="148" name="Google Shape;14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838200" y="1705139"/>
            <a:ext cx="395831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i="0"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(C)  </a:t>
            </a: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 = 2, value = 0</a:t>
            </a:r>
            <a:endParaRPr/>
          </a:p>
          <a:p>
            <a:pPr indent="-4572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Stack's top (1) &gt; 0, so NGE for 0 is 1.</a:t>
            </a:r>
            <a:endParaRPr/>
          </a:p>
          <a:p>
            <a:pPr indent="-4572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Push 0 to stack.</a:t>
            </a:r>
            <a:endParaRPr/>
          </a:p>
          <a:p>
            <a:pPr indent="-4572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Result: [_, _, 1, 3, -1]</a:t>
            </a:r>
            <a:endParaRPr/>
          </a:p>
          <a:p>
            <a:pPr indent="-4572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Stack: [3][1][0]</a:t>
            </a:r>
            <a:endParaRPr/>
          </a:p>
        </p:txBody>
      </p:sp>
      <p:sp>
        <p:nvSpPr>
          <p:cNvPr id="150" name="Google Shape;150;p9"/>
          <p:cNvSpPr txBox="1"/>
          <p:nvPr/>
        </p:nvSpPr>
        <p:spPr>
          <a:xfrm>
            <a:off x="7025640" y="1570535"/>
            <a:ext cx="432816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i="0"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(D)  </a:t>
            </a: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 = 1, value = 8</a:t>
            </a:r>
            <a:endParaRPr/>
          </a:p>
          <a:p>
            <a:pPr indent="-4572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Stack's top (0) ≤ 8; pop 0.</a:t>
            </a:r>
            <a:endParaRPr/>
          </a:p>
          <a:p>
            <a:pPr indent="-4572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Next top (1) ≤ 8; pop 1.</a:t>
            </a:r>
            <a:endParaRPr/>
          </a:p>
          <a:p>
            <a:pPr indent="-4572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Next top (3) ≤ 8; pop 3.</a:t>
            </a:r>
            <a:endParaRPr/>
          </a:p>
          <a:p>
            <a:pPr indent="-4572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Now, stack is empty: NGE for 8 is -1.</a:t>
            </a:r>
            <a:endParaRPr/>
          </a:p>
          <a:p>
            <a:pPr indent="-4572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Push 8.</a:t>
            </a:r>
            <a:endParaRPr/>
          </a:p>
          <a:p>
            <a:pPr indent="-4572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Result: [_, -1, 1, 3, -1]</a:t>
            </a:r>
            <a:endParaRPr/>
          </a:p>
          <a:p>
            <a:pPr indent="-4572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Stack: [8]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sp>
        <p:nvSpPr>
          <p:cNvPr id="156" name="Google Shape;15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7" name="Google Shape;157;p10"/>
          <p:cNvSpPr txBox="1"/>
          <p:nvPr/>
        </p:nvSpPr>
        <p:spPr>
          <a:xfrm>
            <a:off x="838199" y="1690688"/>
            <a:ext cx="6604819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i="0"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(E)  </a:t>
            </a: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 = 0, value = 6</a:t>
            </a:r>
            <a:endParaRPr/>
          </a:p>
          <a:p>
            <a:pPr indent="-4572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Stack's top (8) &gt; 6, so NGE for 6 is 8.</a:t>
            </a:r>
            <a:endParaRPr/>
          </a:p>
          <a:p>
            <a:pPr indent="-4572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Push 6.</a:t>
            </a:r>
            <a:endParaRPr/>
          </a:p>
          <a:p>
            <a:pPr indent="-4572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Result: [8, -1, 1, 3, -1]</a:t>
            </a:r>
            <a:endParaRPr/>
          </a:p>
          <a:p>
            <a:pPr indent="-4572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Stack: [8][6]</a:t>
            </a:r>
            <a:endParaRPr/>
          </a:p>
        </p:txBody>
      </p:sp>
      <p:sp>
        <p:nvSpPr>
          <p:cNvPr id="158" name="Google Shape;158;p10"/>
          <p:cNvSpPr txBox="1"/>
          <p:nvPr/>
        </p:nvSpPr>
        <p:spPr>
          <a:xfrm>
            <a:off x="838200" y="4637957"/>
            <a:ext cx="432816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400"/>
              <a:buFont typeface="Noto Sans Symbols"/>
              <a:buChar char="✔"/>
            </a:pPr>
            <a:r>
              <a:rPr lang="en-IN" sz="2400">
                <a:solidFill>
                  <a:srgbClr val="2E75B5"/>
                </a:solidFill>
                <a:latin typeface="Cambria"/>
                <a:ea typeface="Cambria"/>
                <a:cs typeface="Cambria"/>
                <a:sym typeface="Cambria"/>
              </a:rPr>
              <a:t>Final Answer: [8, -1, 1, 3, -1]</a:t>
            </a:r>
            <a:endParaRPr sz="4000">
              <a:solidFill>
                <a:srgbClr val="2E75B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pic>
        <p:nvPicPr>
          <p:cNvPr id="165" name="Google Shape;16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4489" y="1544777"/>
            <a:ext cx="9549848" cy="4791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pic>
        <p:nvPicPr>
          <p:cNvPr id="172" name="Google Shape;17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0520" y="2207355"/>
            <a:ext cx="9030960" cy="1991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"/>
          <p:cNvSpPr txBox="1"/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9991483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13"/>
          <p:cNvSpPr/>
          <p:nvPr/>
        </p:nvSpPr>
        <p:spPr>
          <a:xfrm>
            <a:off x="1720646" y="2005782"/>
            <a:ext cx="8111613" cy="3156154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3"/>
          <p:cNvSpPr txBox="1"/>
          <p:nvPr/>
        </p:nvSpPr>
        <p:spPr>
          <a:xfrm>
            <a:off x="1848466" y="2202427"/>
            <a:ext cx="7747819" cy="27937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Next Greater Elements: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4 → 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5 → 25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 → 25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25 → -1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sp>
        <p:nvSpPr>
          <p:cNvPr id="186" name="Google Shape;186;p14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graphicFrame>
        <p:nvGraphicFramePr>
          <p:cNvPr id="187" name="Google Shape;187;p14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{EB1DE89C-7BEB-430B-B2A8-0925712485BB}</a:tableStyleId>
              </a:tblPr>
              <a:tblGrid>
                <a:gridCol w="1700425"/>
                <a:gridCol w="2015425"/>
                <a:gridCol w="2054575"/>
                <a:gridCol w="1984225"/>
                <a:gridCol w="2315800"/>
              </a:tblGrid>
              <a:tr h="151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IN"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Method</a:t>
                      </a:r>
                      <a:endParaRPr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IN"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Approach</a:t>
                      </a:r>
                      <a:endParaRPr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IN"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  <a:endParaRPr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IN"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</a:t>
                      </a:r>
                      <a:endParaRPr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IN"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Example Output</a:t>
                      </a:r>
                      <a:endParaRPr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51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Brute Force</a:t>
                      </a:r>
                      <a:endParaRPr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Nested Loops</a:t>
                      </a:r>
                      <a:endParaRPr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[8, -1, 1, 3, -1]</a:t>
                      </a:r>
                      <a:endParaRPr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Stack</a:t>
                      </a:r>
                      <a:endParaRPr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Monotonic Stack</a:t>
                      </a:r>
                      <a:endParaRPr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sz="24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[8, -1, 1, 3, -1]</a:t>
                      </a:r>
                      <a:endParaRPr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93" name="Google Shape;193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Implemented a program to find the Next Greater Element for each element in an array.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Used a stack to efficiently track elements and determine the next greater value on the right side.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Improved efficiency from the brute-force O(n²) approach to an optimized O(n) solution.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Demonstrated the use of stack operations in solving array-based problems where relative ordering matters.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Reinforced understanding of LIFO behaviour and real-time element comparison in algorithmic problems.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200" name="Google Shape;200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Next Greater Element II (Problem 503):</a:t>
            </a:r>
            <a:endParaRPr sz="240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1778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E75B5"/>
              </a:buClr>
              <a:buSzPts val="2800"/>
              <a:buChar char="•"/>
            </a:pPr>
            <a:r>
              <a:rPr lang="en-IN">
                <a:solidFill>
                  <a:srgbClr val="2E75B5"/>
                </a:solidFill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lang="en-IN" u="sng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https://leetcode.com/problems/next-greater-element-ii/</a:t>
            </a:r>
            <a:endParaRPr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b="1" lang="en-IN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Concept: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The "Next Greater Element II" problem extends the concept of finding the next greater element in a linear array to a circular array.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b="1" lang="en-IN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Same as our class example — perfect for reinforcement.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1" name="Google Shape;201;p16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207" name="Google Shape;20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2.  Next Greater Element III (Problem 556):</a:t>
            </a:r>
            <a:endParaRPr sz="240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1524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E75B5"/>
              </a:buClr>
              <a:buSzPts val="2400"/>
              <a:buChar char="•"/>
            </a:pPr>
            <a:r>
              <a:rPr lang="en-IN" sz="2400">
                <a:solidFill>
                  <a:srgbClr val="2E75B5"/>
                </a:solidFill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lang="en-IN" sz="2400" u="sng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https://leetcode.com/problems/next-greater-element-iii/</a:t>
            </a:r>
            <a:endParaRPr sz="2400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400">
              <a:solidFill>
                <a:srgbClr val="2E75B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IN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The "Next Greater Element III" problem asks for the smallest integer greater than a given integer n that uses exactly the same digits as n, while fitting within a 32-bit integer; if no such number exists, return -1.</a:t>
            </a:r>
            <a:endParaRPr sz="240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IN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Strengthens your understanding of NGE problems logic.</a:t>
            </a:r>
            <a:endParaRPr sz="2400"/>
          </a:p>
        </p:txBody>
      </p:sp>
      <p:sp>
        <p:nvSpPr>
          <p:cNvPr id="208" name="Google Shape;208;p17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f599085ea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214" name="Google Shape;214;g3af599085ea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3. Next Greater Element I (Problem 496)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IN" sz="2400">
                <a:uFill>
                  <a:noFill/>
                </a:uFill>
                <a:latin typeface="Cambria"/>
                <a:ea typeface="Cambria"/>
                <a:cs typeface="Cambria"/>
                <a:sym typeface="Cambria"/>
                <a:hlinkClick r:id="rId3"/>
              </a:rPr>
              <a:t> </a:t>
            </a:r>
            <a: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https://leetcode.com/problems/next-greater-element-i/</a:t>
            </a:r>
            <a:endParaRPr sz="2400" u="sng">
              <a:solidFill>
                <a:schemeClr val="hlink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 u="sng">
              <a:solidFill>
                <a:schemeClr val="hlink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Find the next greater element for each value of one array within another array (non-circular). Use a monotonic stack to preprocess next greater values for the larger array, then map answers to the query array.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Fundamental variant — good to practise building the next-greater map and understanding stack preprocessing + hashing lookup.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5" name="Google Shape;215;g3af599085ea_0_0"/>
          <p:cNvSpPr/>
          <p:nvPr/>
        </p:nvSpPr>
        <p:spPr>
          <a:xfrm>
            <a:off x="9991482" y="4"/>
            <a:ext cx="2144801" cy="995524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"/>
          <p:cNvSpPr txBox="1"/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IN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3070741" y="1514622"/>
            <a:ext cx="6050518" cy="1517789"/>
          </a:xfrm>
          <a:custGeom>
            <a:rect b="b" l="l" r="r" t="t"/>
            <a:pathLst>
              <a:path extrusionOk="0" h="1517789" w="6050518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47" l="0" r="0" t="-4637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2025-10-28T09:21:51Z</dcterms:created>
  <dc:creator>Prakash K. P.</dc:creator>
</cp:coreProperties>
</file>