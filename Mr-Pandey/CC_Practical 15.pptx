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gG+quCkZNMaaRfRR/DrYVBeJC4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F439086-85C8-466E-A5EB-50A4E496C00F}">
  <a:tblStyle styleId="{3F439086-85C8-466E-A5EB-50A4E496C00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" name="Google Shape;133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5" name="Google Shape;155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be8f3a2f2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2" name="Google Shape;162;g3be8f3a2f21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e8f3a2f2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g3be8f3a2f21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leetcode.com/problems/lowest-common-ancestor-of-a-binary-tree/" TargetMode="External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leetcode.com/problems/lowest-common-ancestor-of-a-binary-search-tree/" TargetMode="External"/><Relationship Id="rId4" Type="http://schemas.openxmlformats.org/officeDocument/2006/relationships/hyperlink" Target="https://leetcode.com/problems/lowest-common-ancestor-of-a-binary-search-tree/" TargetMode="External"/><Relationship Id="rId5" Type="http://schemas.openxmlformats.org/officeDocument/2006/relationships/hyperlink" Target="https://leetcode.com/problems/lowest-common-ancestor-of-a-binary-search-tree/" TargetMode="External"/><Relationship Id="rId6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leetcode.com/problems/smallest-subtree-with-all-the-deepest-nodes/" TargetMode="External"/><Relationship Id="rId4" Type="http://schemas.openxmlformats.org/officeDocument/2006/relationships/hyperlink" Target="https://leetcode.com/problems/smallest-subtree-with-all-the-deepest-nodes/" TargetMode="External"/><Relationship Id="rId5" Type="http://schemas.openxmlformats.org/officeDocument/2006/relationships/hyperlink" Target="https://leetcode.com/problems/smallest-subtree-with-all-the-deepest-nodes/" TargetMode="External"/><Relationship Id="rId6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758467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Cambria"/>
              <a:buNone/>
            </a:pPr>
            <a:r>
              <a:rPr lang="en-IN" sz="7000">
                <a:latin typeface="Cambria"/>
                <a:ea typeface="Cambria"/>
                <a:cs typeface="Cambria"/>
                <a:sym typeface="Cambria"/>
              </a:rPr>
              <a:t>Practical 15</a:t>
            </a:r>
            <a:endParaRPr sz="7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4198386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Write a program for Lowest Common Ancestors.</a:t>
            </a:r>
            <a:endParaRPr/>
          </a:p>
        </p:txBody>
      </p:sp>
      <p:sp>
        <p:nvSpPr>
          <p:cNvPr id="86" name="Google Shape;86;p1"/>
          <p:cNvSpPr/>
          <p:nvPr/>
        </p:nvSpPr>
        <p:spPr>
          <a:xfrm>
            <a:off x="3070741" y="1514622"/>
            <a:ext cx="6050518" cy="1517789"/>
          </a:xfrm>
          <a:custGeom>
            <a:rect b="b" l="l" r="r" t="t"/>
            <a:pathLst>
              <a:path extrusionOk="0" h="1517789" w="6050518">
                <a:moveTo>
                  <a:pt x="0" y="0"/>
                </a:moveTo>
                <a:lnTo>
                  <a:pt x="6050518" y="0"/>
                </a:lnTo>
                <a:lnTo>
                  <a:pt x="6050518" y="1517788"/>
                </a:lnTo>
                <a:lnTo>
                  <a:pt x="0" y="15177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642" l="0" r="0" t="-4634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1" name="Google Shape;91;p2"/>
          <p:cNvGraphicFramePr/>
          <p:nvPr/>
        </p:nvGraphicFramePr>
        <p:xfrm>
          <a:off x="3309539" y="12658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{3F439086-85C8-466E-A5EB-50A4E496C00F}</a:tableStyleId>
              </a:tblPr>
              <a:tblGrid>
                <a:gridCol w="5342850"/>
              </a:tblGrid>
              <a:tr h="35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mbria"/>
                        <a:buNone/>
                      </a:pPr>
                      <a:r>
                        <a:rPr b="1" i="0" lang="en-IN" sz="24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Plan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2" name="Google Shape;92;p2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93" name="Google Shape;93;p2"/>
          <p:cNvGraphicFramePr/>
          <p:nvPr/>
        </p:nvGraphicFramePr>
        <p:xfrm>
          <a:off x="1461074" y="27462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{3F439086-85C8-466E-A5EB-50A4E496C00F}</a:tableStyleId>
              </a:tblPr>
              <a:tblGrid>
                <a:gridCol w="2865125"/>
                <a:gridCol w="6194325"/>
              </a:tblGrid>
              <a:tr h="16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Subject/Course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Competitive Coding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6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Title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b="1" lang="en-IN" sz="1800" u="none" cap="none" strike="noStrik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Lowest Common Ancestor (LCA) in a Binary Tree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4" name="Google Shape;94;p2"/>
          <p:cNvGraphicFramePr/>
          <p:nvPr/>
        </p:nvGraphicFramePr>
        <p:xfrm>
          <a:off x="1471065" y="35952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{3F439086-85C8-466E-A5EB-50A4E496C00F}</a:tableStyleId>
              </a:tblPr>
              <a:tblGrid>
                <a:gridCol w="9039450"/>
              </a:tblGrid>
              <a:tr h="20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C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Objectives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Understand the concept of the Lowest Common Ancestor (LCA) in a binary tree.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Learn how to trace paths of two nodes and identify their shared ancestor.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Implement recursive logic to efficiently find the LCA.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Analyze the time and space complexity of the LCA approach.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b="1" lang="en-IN" sz="4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Problem Statement: </a:t>
            </a:r>
            <a:endParaRPr sz="4000"/>
          </a:p>
        </p:txBody>
      </p:sp>
      <p:sp>
        <p:nvSpPr>
          <p:cNvPr id="100" name="Google Shape;100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Given a binary tree and two node values, find their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Lowest Common Ancestor (LCA)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If one node is the ancestor of the other, return that node itself.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Concept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7" name="Google Shape;107;p4"/>
          <p:cNvSpPr txBox="1"/>
          <p:nvPr>
            <p:ph idx="1" type="body"/>
          </p:nvPr>
        </p:nvSpPr>
        <p:spPr>
          <a:xfrm>
            <a:off x="838200" y="1690688"/>
            <a:ext cx="10515600" cy="4486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1" marL="9144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The </a:t>
            </a:r>
            <a:r>
              <a:rPr b="1" lang="en-IN">
                <a:latin typeface="Cambria"/>
                <a:ea typeface="Cambria"/>
                <a:cs typeface="Cambria"/>
                <a:sym typeface="Cambria"/>
              </a:rPr>
              <a:t>Lowest Common Ancestor</a:t>
            </a:r>
            <a:r>
              <a:rPr lang="en-IN">
                <a:latin typeface="Cambria"/>
                <a:ea typeface="Cambria"/>
                <a:cs typeface="Cambria"/>
                <a:sym typeface="Cambria"/>
              </a:rPr>
              <a:t> (LCA) of two nodes n1 and n2 in a binary tree is the lowest (deepest) node that has both n1 and n2 as descendants.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228600" lvl="1" marL="9144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381000" lvl="1" marL="9144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In simpler terms, it’s the common parent of both nodes that appears lowest in the tree.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381000" lvl="1" marL="9144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We can find the LCA efficiently using </a:t>
            </a:r>
            <a:r>
              <a:rPr b="1" lang="en-IN">
                <a:latin typeface="Cambria"/>
                <a:ea typeface="Cambria"/>
                <a:cs typeface="Cambria"/>
                <a:sym typeface="Cambria"/>
              </a:rPr>
              <a:t>recursion</a:t>
            </a:r>
            <a:r>
              <a:rPr lang="en-IN">
                <a:latin typeface="Cambria"/>
                <a:ea typeface="Cambria"/>
                <a:cs typeface="Cambria"/>
                <a:sym typeface="Cambria"/>
              </a:rPr>
              <a:t>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914400" rtl="0" algn="just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4" name="Google Shape;114;p5"/>
          <p:cNvSpPr txBox="1"/>
          <p:nvPr>
            <p:ph idx="1" type="body"/>
          </p:nvPr>
        </p:nvSpPr>
        <p:spPr>
          <a:xfrm>
            <a:off x="787025" y="2286250"/>
            <a:ext cx="10515600" cy="20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Cambria"/>
              <a:buAutoNum type="arabicPeriod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If the root is </a:t>
            </a:r>
            <a:r>
              <a:rPr lang="en-IN" sz="2400">
                <a:solidFill>
                  <a:srgbClr val="188038"/>
                </a:solidFill>
                <a:latin typeface="Cambria"/>
                <a:ea typeface="Cambria"/>
                <a:cs typeface="Cambria"/>
                <a:sym typeface="Cambria"/>
              </a:rPr>
              <a:t>NULL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, return </a:t>
            </a:r>
            <a:r>
              <a:rPr lang="en-IN" sz="2400">
                <a:solidFill>
                  <a:srgbClr val="188038"/>
                </a:solidFill>
                <a:latin typeface="Cambria"/>
                <a:ea typeface="Cambria"/>
                <a:cs typeface="Cambria"/>
                <a:sym typeface="Cambria"/>
              </a:rPr>
              <a:t>NULL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AutoNum type="arabicPeriod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If the root matches either of the two target nodes, return the root.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AutoNum type="arabicPeriod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Recursively search for the two nodes in the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left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and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right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subtrees.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AutoNum type="arabicPeriod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If both sides return non-NULL, the current node is the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LCA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AutoNum type="arabicPeriod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Otherwise, return the non-NULL side.</a:t>
            </a:r>
            <a:endParaRPr b="1" sz="2400">
              <a:solidFill>
                <a:srgbClr val="19639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1" name="Google Shape;12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Visualization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22" name="Google Shape;12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62177" y="1690702"/>
            <a:ext cx="5067650" cy="317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7"/>
          <p:cNvSpPr txBox="1"/>
          <p:nvPr/>
        </p:nvSpPr>
        <p:spPr>
          <a:xfrm>
            <a:off x="2365875" y="5377025"/>
            <a:ext cx="8050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273239"/>
                </a:solidFill>
                <a:highlight>
                  <a:srgbClr val="F9F9F9"/>
                </a:highlight>
                <a:latin typeface="Cambria"/>
                <a:ea typeface="Cambria"/>
                <a:cs typeface="Cambria"/>
                <a:sym typeface="Cambria"/>
              </a:rPr>
              <a:t>Output: </a:t>
            </a:r>
            <a:r>
              <a:rPr b="0" i="0" lang="en-IN" sz="2400" u="none" cap="none" strike="noStrike">
                <a:solidFill>
                  <a:srgbClr val="273239"/>
                </a:solidFill>
                <a:highlight>
                  <a:srgbClr val="F9F9F9"/>
                </a:highlight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400" u="none" cap="none" strike="noStrike">
              <a:solidFill>
                <a:srgbClr val="273239"/>
              </a:solidFill>
              <a:highlight>
                <a:srgbClr val="F9F9F9"/>
              </a:highlight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273239"/>
                </a:solidFill>
                <a:highlight>
                  <a:srgbClr val="F9F9F9"/>
                </a:highlight>
                <a:latin typeface="Cambria"/>
                <a:ea typeface="Cambria"/>
                <a:cs typeface="Cambria"/>
                <a:sym typeface="Cambria"/>
              </a:rPr>
              <a:t>Explanation:</a:t>
            </a:r>
            <a:r>
              <a:rPr b="0" i="0" lang="en-IN" sz="2400" u="none" cap="none" strike="noStrike">
                <a:solidFill>
                  <a:srgbClr val="273239"/>
                </a:solidFill>
                <a:highlight>
                  <a:srgbClr val="F9F9F9"/>
                </a:highlight>
                <a:latin typeface="Cambria"/>
                <a:ea typeface="Cambria"/>
                <a:cs typeface="Cambria"/>
                <a:sym typeface="Cambria"/>
              </a:rPr>
              <a:t> As shown below, LCA of 4 and 5 is 2.</a:t>
            </a:r>
            <a:endParaRPr b="0" i="0" sz="2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Code Implementation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30" name="Google Shape;13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49960" y="1593907"/>
            <a:ext cx="8841996" cy="48989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9117" y="497977"/>
            <a:ext cx="8223940" cy="3461627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9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9"/>
          <p:cNvSpPr txBox="1"/>
          <p:nvPr>
            <p:ph type="title"/>
          </p:nvPr>
        </p:nvSpPr>
        <p:spPr>
          <a:xfrm>
            <a:off x="838213" y="36098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Output :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38" name="Google Shape;138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28738" y="5057138"/>
            <a:ext cx="7991475" cy="151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Time &amp; Space Complexity</a:t>
            </a:r>
            <a:endParaRPr/>
          </a:p>
        </p:txBody>
      </p:sp>
      <p:sp>
        <p:nvSpPr>
          <p:cNvPr id="144" name="Google Shape;144;p13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145" name="Google Shape;145;p13"/>
          <p:cNvGraphicFramePr/>
          <p:nvPr/>
        </p:nvGraphicFramePr>
        <p:xfrm>
          <a:off x="684650" y="2825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{3F439086-85C8-466E-A5EB-50A4E496C00F}</a:tableStyleId>
              </a:tblPr>
              <a:tblGrid>
                <a:gridCol w="1865200"/>
                <a:gridCol w="2009525"/>
                <a:gridCol w="1949900"/>
                <a:gridCol w="4923325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Operation</a:t>
                      </a:r>
                      <a:endParaRPr b="1"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Time Complexity</a:t>
                      </a:r>
                      <a:endParaRPr b="1"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Space Complexity</a:t>
                      </a:r>
                      <a:endParaRPr b="1"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Explanation</a:t>
                      </a:r>
                      <a:endParaRPr b="1"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Find LCA (Recursive)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O(n)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O(h)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Traverses all nodes; recursion depth = tree height (h).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Summary</a:t>
            </a:r>
            <a:endParaRPr/>
          </a:p>
        </p:txBody>
      </p:sp>
      <p:sp>
        <p:nvSpPr>
          <p:cNvPr id="151" name="Google Shape;151;p14"/>
          <p:cNvSpPr txBox="1"/>
          <p:nvPr>
            <p:ph idx="1" type="body"/>
          </p:nvPr>
        </p:nvSpPr>
        <p:spPr>
          <a:xfrm>
            <a:off x="838200" y="1825625"/>
            <a:ext cx="10515600" cy="3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The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Lowest Common Ancestor (LCA)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identifies the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shared parent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of two given nodes.</a:t>
            </a:r>
            <a:br>
              <a:rPr lang="en-IN" sz="2400">
                <a:latin typeface="Cambria"/>
                <a:ea typeface="Cambria"/>
                <a:cs typeface="Cambria"/>
                <a:sym typeface="Cambria"/>
              </a:rPr>
            </a:b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Solved efficiently using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recursion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with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O(n)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time complexity.</a:t>
            </a:r>
            <a:br>
              <a:rPr lang="en-IN" sz="2400">
                <a:latin typeface="Cambria"/>
                <a:ea typeface="Cambria"/>
                <a:cs typeface="Cambria"/>
                <a:sym typeface="Cambria"/>
              </a:rPr>
            </a:b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Widely used in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network routing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taxonomy classification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, and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organization hierarchies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2" name="Google Shape;152;p14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158" name="Google Shape;158;p16"/>
          <p:cNvSpPr txBox="1"/>
          <p:nvPr>
            <p:ph idx="1" type="body"/>
          </p:nvPr>
        </p:nvSpPr>
        <p:spPr>
          <a:xfrm>
            <a:off x="643600" y="1805150"/>
            <a:ext cx="10878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Cambria"/>
              <a:buAutoNum type="arabicPeriod"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Lowest Common Ancestor of a Binary Tree — LeetCode #236</a:t>
            </a:r>
            <a:br>
              <a:rPr b="1"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i="1" lang="en-IN" sz="2400">
                <a:latin typeface="Cambria"/>
                <a:ea typeface="Cambria"/>
                <a:cs typeface="Cambria"/>
                <a:sym typeface="Cambria"/>
              </a:rPr>
              <a:t>🔗 </a:t>
            </a:r>
            <a:r>
              <a:rPr i="1" lang="en-IN" sz="24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3"/>
              </a:rPr>
              <a:t>https://leetcode.com/problems/lowest-common-ancestor-of-a-binary-tree/</a:t>
            </a:r>
            <a:endParaRPr i="1"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Concept:</a:t>
            </a:r>
            <a:br>
              <a:rPr b="1"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Use recursion to find the deepest common parent node between two given nodes in a binary tree.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Why Practice:</a:t>
            </a:r>
            <a:endParaRPr b="1" sz="2400">
              <a:latin typeface="Cambria"/>
              <a:ea typeface="Cambria"/>
              <a:cs typeface="Cambria"/>
              <a:sym typeface="Cambr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Reinforces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recursive tree traversal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logic.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Builds foundation for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graph ancestry and path problems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.</a:t>
            </a:r>
            <a:endParaRPr b="1" sz="2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be8f3a2f21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165" name="Google Shape;165;g3be8f3a2f21_0_0"/>
          <p:cNvSpPr txBox="1"/>
          <p:nvPr>
            <p:ph idx="1" type="body"/>
          </p:nvPr>
        </p:nvSpPr>
        <p:spPr>
          <a:xfrm>
            <a:off x="643600" y="1805150"/>
            <a:ext cx="10878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2.  Lowest Common Ancestor of a Binary Search Tree — LeetCode #235</a:t>
            </a:r>
            <a:endParaRPr b="1"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🔗</a:t>
            </a:r>
            <a:r>
              <a:rPr lang="en-IN" sz="2400">
                <a:uFill>
                  <a:noFill/>
                </a:uFill>
                <a:latin typeface="Cambria"/>
                <a:ea typeface="Cambria"/>
                <a:cs typeface="Cambria"/>
                <a:sym typeface="Cambria"/>
                <a:hlinkClick r:id="rId3"/>
              </a:rPr>
              <a:t> </a:t>
            </a:r>
            <a:r>
              <a:rPr lang="en-IN" sz="22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4"/>
              </a:rPr>
              <a:t>https://leetcode.com/problems/lowest-common-ancestor-of-a-binary-search-tree/</a:t>
            </a:r>
            <a:br>
              <a:rPr lang="en-IN" sz="24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5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Difficulty: Medium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Concept:</a:t>
            </a:r>
            <a:br>
              <a:rPr b="1"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Find LCA in a Binary Search Tree using BST properties.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Why Practice:</a:t>
            </a:r>
            <a:br>
              <a:rPr b="1"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Strengthens understanding of BST ordering rules.</a:t>
            </a:r>
            <a:br>
              <a:rPr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Teaches how structural properties can simplify recursion.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6" name="Google Shape;166;g3be8f3a2f21_0_0"/>
          <p:cNvSpPr/>
          <p:nvPr/>
        </p:nvSpPr>
        <p:spPr>
          <a:xfrm>
            <a:off x="9991482" y="4"/>
            <a:ext cx="2144801" cy="995524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be8f3a2f21_0_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172" name="Google Shape;172;g3be8f3a2f21_0_6"/>
          <p:cNvSpPr txBox="1"/>
          <p:nvPr>
            <p:ph idx="1" type="body"/>
          </p:nvPr>
        </p:nvSpPr>
        <p:spPr>
          <a:xfrm>
            <a:off x="643600" y="1805150"/>
            <a:ext cx="10878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3. Smallest Subtree with all the Deepest Nodes — LeetCode #865</a:t>
            </a:r>
            <a:endParaRPr b="1"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🔗</a:t>
            </a:r>
            <a:r>
              <a:rPr lang="en-IN" sz="2400">
                <a:uFill>
                  <a:noFill/>
                </a:uFill>
                <a:latin typeface="Cambria"/>
                <a:ea typeface="Cambria"/>
                <a:cs typeface="Cambria"/>
                <a:sym typeface="Cambria"/>
                <a:hlinkClick r:id="rId3"/>
              </a:rPr>
              <a:t> </a:t>
            </a:r>
            <a:r>
              <a:rPr lang="en-IN" sz="24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4"/>
              </a:rPr>
              <a:t>https://leetcode.com/problems/smallest-subtree-with-all-the-deepest-nodes/</a:t>
            </a:r>
            <a:br>
              <a:rPr lang="en-IN" sz="24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5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Difficulty: Medium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Concept:</a:t>
            </a:r>
            <a:br>
              <a:rPr b="1"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Return the smallest subtree that contains all the deepest nodes in the tree.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Why Practice:</a:t>
            </a:r>
            <a:br>
              <a:rPr b="1"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This is a variation of LCA thinking.</a:t>
            </a:r>
            <a:br>
              <a:rPr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Requires identifying lowest common ancestor of deepest nodes.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3" name="Google Shape;173;g3be8f3a2f21_0_6"/>
          <p:cNvSpPr/>
          <p:nvPr/>
        </p:nvSpPr>
        <p:spPr>
          <a:xfrm>
            <a:off x="9991482" y="4"/>
            <a:ext cx="2144801" cy="995524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"/>
          <p:cNvSpPr txBox="1"/>
          <p:nvPr>
            <p:ph type="ctrTitle"/>
          </p:nvPr>
        </p:nvSpPr>
        <p:spPr>
          <a:xfrm>
            <a:off x="1524000" y="2026822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Cambria"/>
              <a:buNone/>
            </a:pPr>
            <a:r>
              <a:rPr b="1" lang="en-IN" sz="7000">
                <a:latin typeface="Cambria"/>
                <a:ea typeface="Cambria"/>
                <a:cs typeface="Cambria"/>
                <a:sym typeface="Cambria"/>
              </a:rPr>
              <a:t>Thanks</a:t>
            </a:r>
            <a:endParaRPr b="1" sz="7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3070741" y="1514622"/>
            <a:ext cx="6050518" cy="1517789"/>
          </a:xfrm>
          <a:custGeom>
            <a:rect b="b" l="l" r="r" t="t"/>
            <a:pathLst>
              <a:path extrusionOk="0" h="1517789" w="6050518">
                <a:moveTo>
                  <a:pt x="0" y="0"/>
                </a:moveTo>
                <a:lnTo>
                  <a:pt x="6050518" y="0"/>
                </a:lnTo>
                <a:lnTo>
                  <a:pt x="6050518" y="1517788"/>
                </a:lnTo>
                <a:lnTo>
                  <a:pt x="0" y="15177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642" l="0" r="0" t="-4634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2025-10-28T09:21:51Z</dcterms:created>
  <dc:creator>Prakash K. P.</dc:creator>
</cp:coreProperties>
</file>