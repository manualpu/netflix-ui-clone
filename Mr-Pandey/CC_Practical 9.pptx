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6PEp4qb7jKhcEEeNlzARGZ0pZ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C3B3C5-E989-476A-8431-B778E7458733}">
  <a:tblStyle styleId="{BCC3B3C5-E989-476A-8431-B778E74587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bf1214d98_5_76:notes"/>
          <p:cNvSpPr txBox="1"/>
          <p:nvPr>
            <p:ph idx="1" type="body"/>
          </p:nvPr>
        </p:nvSpPr>
        <p:spPr>
          <a:xfrm>
            <a:off x="755968" y="5145429"/>
            <a:ext cx="6047700" cy="421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bf1214d98_5_76:notes"/>
          <p:cNvSpPr/>
          <p:nvPr>
            <p:ph idx="2" type="sldImg"/>
          </p:nvPr>
        </p:nvSpPr>
        <p:spPr>
          <a:xfrm>
            <a:off x="755968" y="1336475"/>
            <a:ext cx="60477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bf1214d98_5_0:notes"/>
          <p:cNvSpPr txBox="1"/>
          <p:nvPr>
            <p:ph idx="1" type="body"/>
          </p:nvPr>
        </p:nvSpPr>
        <p:spPr>
          <a:xfrm>
            <a:off x="755968" y="5145429"/>
            <a:ext cx="6047700" cy="421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bf1214d98_5_0:notes"/>
          <p:cNvSpPr/>
          <p:nvPr>
            <p:ph idx="2" type="sldImg"/>
          </p:nvPr>
        </p:nvSpPr>
        <p:spPr>
          <a:xfrm>
            <a:off x="755968" y="1336475"/>
            <a:ext cx="60477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bf1214d98_5_152:notes"/>
          <p:cNvSpPr txBox="1"/>
          <p:nvPr>
            <p:ph idx="1" type="body"/>
          </p:nvPr>
        </p:nvSpPr>
        <p:spPr>
          <a:xfrm>
            <a:off x="755968" y="5145429"/>
            <a:ext cx="6047700" cy="421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bf1214d98_5_152:notes"/>
          <p:cNvSpPr/>
          <p:nvPr>
            <p:ph idx="2" type="sldImg"/>
          </p:nvPr>
        </p:nvSpPr>
        <p:spPr>
          <a:xfrm>
            <a:off x="755968" y="1336475"/>
            <a:ext cx="60477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>
  <p:cSld name="OBJECT 2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2920" y="-244440"/>
            <a:ext cx="1337400" cy="13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0"/>
          <p:cNvSpPr txBox="1"/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 rot="5400000">
            <a:off x="3920220" y="-1256580"/>
            <a:ext cx="4350600" cy="105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 rot="5400000">
            <a:off x="7133580" y="1956420"/>
            <a:ext cx="5811120" cy="262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 rot="5400000">
            <a:off x="1799280" y="-596160"/>
            <a:ext cx="5811120" cy="773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5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27"/>
          <p:cNvSpPr txBox="1"/>
          <p:nvPr>
            <p:ph idx="1"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7"/>
          <p:cNvSpPr txBox="1"/>
          <p:nvPr>
            <p:ph idx="2"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2"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3"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8"/>
          <p:cNvSpPr txBox="1"/>
          <p:nvPr>
            <p:ph idx="4"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8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2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swap-nodes-in-pairs/" TargetMode="External"/><Relationship Id="rId4" Type="http://schemas.openxmlformats.org/officeDocument/2006/relationships/hyperlink" Target="https://leetcode.com/problems/swap-nodes-in-pairs/" TargetMode="External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next-greater-node-in-linked-list/" TargetMode="External"/><Relationship Id="rId4" Type="http://schemas.openxmlformats.org/officeDocument/2006/relationships/hyperlink" Target="https://leetcode.com/problems/next-greater-node-in-linked-list/" TargetMode="External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swapping-nodes-in-a-linked-list/" TargetMode="External"/><Relationship Id="rId4" Type="http://schemas.openxmlformats.org/officeDocument/2006/relationships/hyperlink" Target="https://leetcode.com/problems/swapping-nodes-in-a-linked-list/" TargetMode="External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1523880" y="175860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0" lang="en-IN" sz="7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Practical 9</a:t>
            </a:r>
            <a:endParaRPr b="0" sz="7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523880" y="4198320"/>
            <a:ext cx="9143280" cy="165492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Swap Nodes pairwise in a linked list.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99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070800" y="1514520"/>
            <a:ext cx="6049800" cy="1517040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2"/>
          <p:cNvGraphicFramePr/>
          <p:nvPr/>
        </p:nvGraphicFramePr>
        <p:xfrm>
          <a:off x="3309480" y="1265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{BCC3B3C5-E989-476A-8431-B778E7458733}</a:tableStyleId>
              </a:tblPr>
              <a:tblGrid>
                <a:gridCol w="5342750"/>
              </a:tblGrid>
              <a:tr h="35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2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1461240" y="2746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{BCC3B3C5-E989-476A-8431-B778E7458733}</a:tableStyleId>
              </a:tblPr>
              <a:tblGrid>
                <a:gridCol w="2864875"/>
                <a:gridCol w="6194150"/>
              </a:tblGrid>
              <a:tr h="159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9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Swap Nodes pairwise in a linked list.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2"/>
          <p:cNvGraphicFramePr/>
          <p:nvPr/>
        </p:nvGraphicFramePr>
        <p:xfrm>
          <a:off x="1470960" y="3595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{BCC3B3C5-E989-476A-8431-B778E7458733}</a:tableStyleId>
              </a:tblPr>
              <a:tblGrid>
                <a:gridCol w="9039250"/>
              </a:tblGrid>
              <a:tr h="20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Rearrange the linked list so every two adjacent nodes are swapped (1↔2, 3↔4, ...).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 it in O(n) time and O(1) extra space — by changing links (ptrs), not node values.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75950" marL="75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2"/>
          <p:cNvSpPr/>
          <p:nvPr/>
        </p:nvSpPr>
        <p:spPr>
          <a:xfrm>
            <a:off x="3231000" y="4523400"/>
            <a:ext cx="1219140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Write a program to Swap Nodes pairwise in a linked list.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080" y="1690560"/>
            <a:ext cx="10514880" cy="4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linked list is a linear data structure composed of a sequence of nodes, where each node contains data and a pointer (or reference) to the next node in the sequence.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99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Common operations: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Insertion: Adding a new node to the linked list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Deletion: Removing a node from the linked list.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Traversal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Searching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85800" marR="0" rtl="0" algn="just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8580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1150374" y="1542356"/>
            <a:ext cx="9379975" cy="44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Create a singly linked list.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Traverse the list using a pointer current.</a:t>
            </a:r>
            <a:endParaRPr/>
          </a:p>
          <a:p>
            <a:pPr indent="-457200" lvl="8" marL="457200" rtl="0" algn="l"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While current and current.next exist:</a:t>
            </a:r>
            <a:endParaRPr/>
          </a:p>
          <a:p>
            <a:pPr indent="-457200" lvl="8" marL="457200" rtl="0" algn="l"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lang="en-IN" sz="24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Swap the data of current and current.next</a:t>
            </a:r>
            <a:r>
              <a:rPr b="0" lang="en-IN" sz="2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Move current two nodes ahead.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 the list after swapping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87760" y="2047320"/>
            <a:ext cx="1000476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80000" y="1918800"/>
            <a:ext cx="7851960" cy="330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6772" y="1453680"/>
            <a:ext cx="5466735" cy="503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4873" y="1640680"/>
            <a:ext cx="8487960" cy="449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834" y="675891"/>
            <a:ext cx="7525800" cy="5506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9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Original List: 1 2 3 4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After Swapping Pairs: 2 1 4 3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1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918720" y="1457640"/>
            <a:ext cx="718092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Input Linked List: 1 -&gt; 2 -&gt; 3 -&gt; 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Output Linked List: 2 -&gt; 1 -&gt; 4 -&gt; 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913320" y="1620000"/>
            <a:ext cx="9886320" cy="632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O(N)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algorithm iterates through the linked list once, processing each pair of nodes. In each iteration of the while loop, a constant number of operations (pointer assignments) are performed. Therefore, the time taken grows linearly with the number of nodes (N) in the linked list.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O(1)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algorithm uses a constant amount of extra space, regardless of the input linked list's size. A dummy node and a prev pointer are created, which consume a fixed amount of memory.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auxiliary data structures are used that scale with the input size.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Summary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algorithm efficiently swaps adjacent nodes in a singly linked list.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9991440" y="0"/>
            <a:ext cx="2144880" cy="995400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f1214d98_5_76"/>
          <p:cNvSpPr txBox="1"/>
          <p:nvPr>
            <p:ph type="title"/>
          </p:nvPr>
        </p:nvSpPr>
        <p:spPr>
          <a:xfrm>
            <a:off x="838080" y="365040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g3bbf1214d98_5_76"/>
          <p:cNvSpPr txBox="1"/>
          <p:nvPr>
            <p:ph idx="1" type="body"/>
          </p:nvPr>
        </p:nvSpPr>
        <p:spPr>
          <a:xfrm>
            <a:off x="838080" y="1825560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Swap Nodes in Pairs — LeetCode #24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https://leetcode.com/problems/swap-nodes-in-pairs/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Swaps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adjacent nodes pairwise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in a linked list using pointer manipulation.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linked list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node swapping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pointer re-linking without changing node values.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g3bbf1214d98_5_76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bf1214d98_5_0"/>
          <p:cNvSpPr txBox="1"/>
          <p:nvPr>
            <p:ph type="title"/>
          </p:nvPr>
        </p:nvSpPr>
        <p:spPr>
          <a:xfrm>
            <a:off x="838080" y="365040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6" name="Google Shape;186;g3bbf1214d98_5_0"/>
          <p:cNvSpPr txBox="1"/>
          <p:nvPr>
            <p:ph idx="1" type="body"/>
          </p:nvPr>
        </p:nvSpPr>
        <p:spPr>
          <a:xfrm>
            <a:off x="838080" y="1825560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Next Greater Node in Linked List — LeetCode #1019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https://leetcode.com/problems/next-greater-node-in-linked-list/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stack + linked list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to find the next greater value for each node.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Demonstrates how stacks help solve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next greater element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problems efficiently on linked lists.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g3bbf1214d98_5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bf1214d98_5_152"/>
          <p:cNvSpPr txBox="1"/>
          <p:nvPr>
            <p:ph type="title"/>
          </p:nvPr>
        </p:nvSpPr>
        <p:spPr>
          <a:xfrm>
            <a:off x="838080" y="365040"/>
            <a:ext cx="105150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3" name="Google Shape;193;g3bbf1214d98_5_152"/>
          <p:cNvSpPr txBox="1"/>
          <p:nvPr>
            <p:ph idx="1" type="body"/>
          </p:nvPr>
        </p:nvSpPr>
        <p:spPr>
          <a:xfrm>
            <a:off x="838080" y="1825560"/>
            <a:ext cx="10515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Swapping Nodes in a Linked List — LeetCode #1721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https://leetcode.com/problems/swapping-nodes-in-a-linked-list/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Swaps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k-th node from the beginning and end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using linked list traversal.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node positioning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traversal, and pointer handling.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g3bbf1214d98_5_152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1523880" y="202680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0" sz="7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3070800" y="1514520"/>
            <a:ext cx="6049800" cy="1517040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